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title>
      <c:tx>
        <c:rich>
          <a:bodyPr rot="0"/>
          <a:lstStyle/>
          <a:p>
            <a:pPr>
              <a:defRPr b="1" i="0" strike="noStrike" sz="1400" u="none">
                <a:solidFill>
                  <a:srgbClr val="000000"/>
                </a:solidFill>
                <a:latin typeface="Arial"/>
              </a:defRPr>
            </a:pPr>
            <a:r>
              <a:rPr b="1" i="0" strike="noStrike" sz="1400" u="none">
                <a:solidFill>
                  <a:srgbClr val="000000"/>
                </a:solidFill>
                <a:latin typeface="Arial"/>
              </a:rPr>
              <a:t>12 mock tools by risk</a:t>
            </a:r>
          </a:p>
        </c:rich>
      </c:tx>
      <c:layout>
        <c:manualLayout>
          <c:xMode val="edge"/>
          <c:yMode val="edge"/>
          <c:x val="0.260755"/>
          <c:y val="0"/>
          <c:w val="0.478489"/>
          <c:h val="0.0962056"/>
        </c:manualLayout>
      </c:layout>
      <c:overlay val="1"/>
      <c:spPr>
        <a:noFill/>
        <a:effectLst/>
      </c:spPr>
    </c:title>
    <c:autoTitleDeleted val="1"/>
    <c:plotArea>
      <c:layout>
        <c:manualLayout>
          <c:layoutTarget val="inner"/>
          <c:xMode val="edge"/>
          <c:yMode val="edge"/>
          <c:x val="0.109975"/>
          <c:y val="0.0962056"/>
          <c:w val="0.78005"/>
          <c:h val="0.798353"/>
        </c:manualLayout>
      </c:layout>
      <c:doughnutChart>
        <c:varyColors val="0"/>
        <c:ser>
          <c:idx val="0"/>
          <c:order val="0"/>
          <c:tx>
            <c:strRef>
              <c:f>Sheet1!$A$2</c:f>
              <c:strCache>
                <c:ptCount val="1"/>
                <c:pt idx="0">
                  <c:v>Tools</c:v>
                </c:pt>
              </c:strCache>
            </c:strRef>
          </c:tx>
          <c:spPr>
            <a:solidFill>
              <a:srgbClr val="14A38B"/>
            </a:solidFill>
            <a:ln w="12700" cap="flat">
              <a:noFill/>
              <a:miter lim="400000"/>
            </a:ln>
            <a:effectLst/>
          </c:spPr>
          <c:explosion val="0"/>
          <c:dPt>
            <c:idx val="0"/>
            <c:explosion val="0"/>
            <c:spPr>
              <a:solidFill>
                <a:srgbClr val="14A38B"/>
              </a:solidFill>
              <a:ln w="12700" cap="flat">
                <a:noFill/>
                <a:miter lim="400000"/>
              </a:ln>
              <a:effectLst/>
            </c:spPr>
          </c:dPt>
          <c:dPt>
            <c:idx val="1"/>
            <c:explosion val="0"/>
            <c:spPr>
              <a:solidFill>
                <a:srgbClr val="704EA6"/>
              </a:solidFill>
              <a:ln w="12700" cap="flat">
                <a:noFill/>
                <a:miter lim="400000"/>
              </a:ln>
              <a:effectLst/>
            </c:spPr>
          </c:dPt>
          <c:dLbls>
            <c:dLbl>
              <c:idx val="0"/>
              <c:numFmt formatCode="0" sourceLinked="0"/>
              <c:txPr>
                <a:bodyPr/>
                <a:lstStyle/>
                <a:p>
                  <a:pPr>
                    <a:defRPr b="1" i="0" strike="noStrike" sz="1600" u="none">
                      <a:solidFill>
                        <a:srgbClr val="FFFFFF"/>
                      </a:solidFill>
                      <a:latin typeface="Arial"/>
                    </a:defRPr>
                  </a:pPr>
                </a:p>
              </c:txPr>
              <c:showLegendKey val="0"/>
              <c:showVal val="0"/>
              <c:showCatName val="0"/>
              <c:showSerName val="0"/>
              <c:showPercent val="0"/>
              <c:showBubbleSize val="0"/>
            </c:dLbl>
            <c:dLbl>
              <c:idx val="1"/>
              <c:numFmt formatCode="0" sourceLinked="0"/>
              <c:txPr>
                <a:bodyPr/>
                <a:lstStyle/>
                <a:p>
                  <a:pPr>
                    <a:defRPr b="1" i="0" strike="noStrike" sz="1600" u="none">
                      <a:solidFill>
                        <a:srgbClr val="FFFFFF"/>
                      </a:solidFill>
                      <a:latin typeface="Arial"/>
                    </a:defRPr>
                  </a:pPr>
                </a:p>
              </c:txPr>
              <c:showLegendKey val="0"/>
              <c:showVal val="0"/>
              <c:showCatName val="0"/>
              <c:showSerName val="0"/>
              <c:showPercent val="0"/>
              <c:showBubbleSize val="0"/>
            </c:dLbl>
            <c:numFmt formatCode="0" sourceLinked="0"/>
            <c:txPr>
              <a:bodyPr/>
              <a:lstStyle/>
              <a:p>
                <a:pPr>
                  <a:defRPr b="1" i="0" strike="noStrike" sz="1600" u="none">
                    <a:solidFill>
                      <a:srgbClr val="FFFFFF"/>
                    </a:solidFill>
                    <a:latin typeface="Arial"/>
                  </a:defRPr>
                </a:pPr>
              </a:p>
            </c:txPr>
            <c:showLegendKey val="0"/>
            <c:showVal val="0"/>
            <c:showCatName val="0"/>
            <c:showSerName val="0"/>
            <c:showPercent val="0"/>
            <c:showBubbleSize val="0"/>
            <c:showLeaderLines val="1"/>
            <c:leaderLines>
              <c:spPr>
                <a:noFill/>
                <a:ln w="6350" cap="flat">
                  <a:solidFill>
                    <a:srgbClr val="000000"/>
                  </a:solidFill>
                  <a:prstDash val="solid"/>
                  <a:miter lim="400000"/>
                </a:ln>
                <a:effectLst/>
              </c:spPr>
            </c:leaderLines>
          </c:dLbls>
          <c:cat>
            <c:strRef>
              <c:f>Sheet1!$B$1:$C$1</c:f>
              <c:strCache>
                <c:ptCount val="2"/>
                <c:pt idx="0">
                  <c:v>7 reads: run in parallel</c:v>
                </c:pt>
                <c:pt idx="1">
                  <c:v>5 writes: one at a time</c:v>
                </c:pt>
              </c:strCache>
            </c:strRef>
          </c:cat>
          <c:val>
            <c:numRef>
              <c:f>Sheet1!$B$2:$C$2</c:f>
              <c:numCache>
                <c:ptCount val="2"/>
                <c:pt idx="0">
                  <c:v>7.000000</c:v>
                </c:pt>
                <c:pt idx="1">
                  <c:v>5.000000</c:v>
                </c:pt>
              </c:numCache>
            </c:numRef>
          </c:val>
        </c:ser>
        <c:firstSliceAng val="0"/>
        <c:holeSize val="50"/>
      </c:doughnutChart>
      <c:spPr>
        <a:noFill/>
        <a:ln w="12700" cap="flat">
          <a:noFill/>
          <a:miter lim="400000"/>
        </a:ln>
        <a:effectLst/>
      </c:spPr>
    </c:plotArea>
    <c:legend>
      <c:legendPos val="b"/>
      <c:layout>
        <c:manualLayout>
          <c:xMode val="edge"/>
          <c:yMode val="edge"/>
          <c:x val="0"/>
          <c:y val="0.939969"/>
          <c:w val="1"/>
          <c:h val="0.0600314"/>
        </c:manualLayout>
      </c:layout>
      <c:overlay val="1"/>
      <c:spPr>
        <a:noFill/>
        <a:ln w="12700" cap="flat">
          <a:noFill/>
          <a:miter lim="400000"/>
        </a:ln>
        <a:effectLst/>
      </c:spPr>
      <c:txPr>
        <a:bodyPr rot="0"/>
        <a:lstStyle/>
        <a:p>
          <a:pPr>
            <a:defRPr b="0" i="0" strike="noStrike" sz="1200" u="none">
              <a:solidFill>
                <a:srgbClr val="000000"/>
              </a:solidFill>
              <a:latin typeface="Arial"/>
            </a:defRPr>
          </a:pPr>
        </a:p>
      </c:txPr>
    </c:legend>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1"/>
  <c:roundedCorners val="0"/>
  <c:chart>
    <c:title>
      <c:tx>
        <c:rich>
          <a:bodyPr rot="0"/>
          <a:lstStyle/>
          <a:p>
            <a:pPr>
              <a:defRPr b="1" i="0" strike="noStrike" sz="1400" u="none">
                <a:solidFill>
                  <a:srgbClr val="000000"/>
                </a:solidFill>
                <a:latin typeface="Arial"/>
              </a:defRPr>
            </a:pPr>
            <a:r>
              <a:rPr b="1" i="0" strike="noStrike" sz="1400" u="none">
                <a:solidFill>
                  <a:srgbClr val="000000"/>
                </a:solidFill>
                <a:latin typeface="Arial"/>
              </a:rPr>
              <a:t>203 / 203 tests passing, by suite</a:t>
            </a:r>
          </a:p>
        </c:rich>
      </c:tx>
      <c:layout>
        <c:manualLayout>
          <c:xMode val="edge"/>
          <c:yMode val="edge"/>
          <c:x val="0.24983"/>
          <c:y val="0"/>
          <c:w val="0.500341"/>
          <c:h val="0.108877"/>
        </c:manualLayout>
      </c:layout>
      <c:overlay val="1"/>
      <c:spPr>
        <a:noFill/>
        <a:effectLst/>
      </c:spPr>
    </c:title>
    <c:autoTitleDeleted val="1"/>
    <c:plotArea>
      <c:layout>
        <c:manualLayout>
          <c:layoutTarget val="inner"/>
          <c:xMode val="edge"/>
          <c:yMode val="edge"/>
          <c:x val="0.228627"/>
          <c:y val="0.108877"/>
          <c:w val="0.746618"/>
          <c:h val="0.783336"/>
        </c:manualLayout>
      </c:layout>
      <c:barChart>
        <c:barDir val="bar"/>
        <c:grouping val="clustered"/>
        <c:varyColors val="0"/>
        <c:ser>
          <c:idx val="0"/>
          <c:order val="0"/>
          <c:tx>
            <c:strRef>
              <c:f>Sheet1!$B$1</c:f>
              <c:strCache>
                <c:ptCount val="1"/>
                <c:pt idx="0">
                  <c:v>Tests</c:v>
                </c:pt>
              </c:strCache>
            </c:strRef>
          </c:tx>
          <c:spPr>
            <a:solidFill>
              <a:srgbClr val="704EA6"/>
            </a:solidFill>
            <a:ln w="12700" cap="flat">
              <a:noFill/>
              <a:miter lim="400000"/>
            </a:ln>
            <a:effectLst/>
          </c:spPr>
          <c:invertIfNegative val="0"/>
          <c:dLbls>
            <c:numFmt formatCode="0" sourceLinked="0"/>
            <c:txPr>
              <a:bodyPr/>
              <a:lstStyle/>
              <a:p>
                <a:pPr>
                  <a:defRPr b="0" i="0" strike="noStrike" sz="1100" u="none">
                    <a:solidFill>
                      <a:srgbClr val="000000"/>
                    </a:solidFill>
                    <a:latin typeface="Arial"/>
                  </a:defRPr>
                </a:pPr>
              </a:p>
            </c:txPr>
            <c:dLblPos val="outEnd"/>
            <c:showLegendKey val="0"/>
            <c:showVal val="1"/>
            <c:showCatName val="0"/>
            <c:showSerName val="0"/>
            <c:showPercent val="0"/>
            <c:showBubbleSize val="0"/>
            <c:showLeaderLines val="0"/>
          </c:dLbls>
          <c:cat>
            <c:strRef>
              <c:f>Sheet1!$A$2:$A$10</c:f>
              <c:strCache>
                <c:ptCount val="9"/>
                <c:pt idx="0">
                  <c:v>Controller</c:v>
                </c:pt>
                <c:pt idx="1">
                  <c:v>Timers</c:v>
                </c:pt>
                <c:pt idx="2">
                  <c:v>Voice</c:v>
                </c:pt>
                <c:pt idx="3">
                  <c:v>State</c:v>
                </c:pt>
                <c:pt idx="4">
                  <c:v>Turns</c:v>
                </c:pt>
                <c:pt idx="5">
                  <c:v>Smoke FDB</c:v>
                </c:pt>
                <c:pt idx="6">
                  <c:v>Benchmark tools</c:v>
                </c:pt>
                <c:pt idx="7">
                  <c:v>Config</c:v>
                </c:pt>
                <c:pt idx="8">
                  <c:v>Other 16 suites</c:v>
                </c:pt>
              </c:strCache>
            </c:strRef>
          </c:cat>
          <c:val>
            <c:numRef>
              <c:f>Sheet1!$B$2:$B$10</c:f>
              <c:numCache>
                <c:ptCount val="9"/>
                <c:pt idx="0">
                  <c:v>40.000000</c:v>
                </c:pt>
                <c:pt idx="1">
                  <c:v>19.000000</c:v>
                </c:pt>
                <c:pt idx="2">
                  <c:v>17.000000</c:v>
                </c:pt>
                <c:pt idx="3">
                  <c:v>16.000000</c:v>
                </c:pt>
                <c:pt idx="4">
                  <c:v>14.000000</c:v>
                </c:pt>
                <c:pt idx="5">
                  <c:v>9.000000</c:v>
                </c:pt>
                <c:pt idx="6">
                  <c:v>6.000000</c:v>
                </c:pt>
                <c:pt idx="7">
                  <c:v>5.000000</c:v>
                </c:pt>
                <c:pt idx="8">
                  <c:v>77.000000</c:v>
                </c:pt>
              </c:numCache>
            </c:numRef>
          </c:val>
        </c:ser>
        <c:gapWidth val="45"/>
        <c:overlap val="0"/>
        <c:axId val="2094734552"/>
        <c:axId val="2094734553"/>
      </c:barChart>
      <c:catAx>
        <c:axId val="2094734552"/>
        <c:scaling>
          <c:orientation val="maxMin"/>
        </c:scaling>
        <c:delete val="0"/>
        <c:axPos val="l"/>
        <c:numFmt formatCode="General" sourceLinked="0"/>
        <c:majorTickMark val="out"/>
        <c:minorTickMark val="none"/>
        <c:tickLblPos val="nextTo"/>
        <c:spPr>
          <a:ln w="12700" cap="flat">
            <a:solidFill>
              <a:srgbClr val="888888"/>
            </a:solidFill>
            <a:prstDash val="solid"/>
            <a:round/>
          </a:ln>
        </c:spPr>
        <c:txPr>
          <a:bodyPr rot="0"/>
          <a:lstStyle/>
          <a:p>
            <a:pPr>
              <a:defRPr b="0" i="0" strike="noStrike" sz="1100" u="none">
                <a:solidFill>
                  <a:srgbClr val="000000"/>
                </a:solidFill>
                <a:latin typeface="Arial"/>
              </a:defRPr>
            </a:pPr>
          </a:p>
        </c:txPr>
        <c:crossAx val="2094734553"/>
        <c:crosses val="autoZero"/>
        <c:auto val="1"/>
        <c:lblAlgn val="ctr"/>
        <c:noMultiLvlLbl val="1"/>
      </c:catAx>
      <c:valAx>
        <c:axId val="2094734553"/>
        <c:scaling>
          <c:orientation val="minMax"/>
        </c:scaling>
        <c:delete val="0"/>
        <c:axPos val="b"/>
        <c:numFmt formatCode="0" sourceLinked="0"/>
        <c:majorTickMark val="out"/>
        <c:minorTickMark val="none"/>
        <c:tickLblPos val="high"/>
        <c:spPr>
          <a:ln w="12700" cap="flat">
            <a:solidFill>
              <a:srgbClr val="888888"/>
            </a:solidFill>
            <a:prstDash val="solid"/>
            <a:round/>
          </a:ln>
        </c:spPr>
        <c:txPr>
          <a:bodyPr rot="0"/>
          <a:lstStyle/>
          <a:p>
            <a:pPr>
              <a:defRPr b="0" i="0" strike="noStrike" sz="1800" u="none">
                <a:solidFill>
                  <a:srgbClr val="000000"/>
                </a:solidFill>
                <a:latin typeface="Arial"/>
              </a:defRPr>
            </a:pPr>
          </a:p>
        </c:txPr>
        <c:crossAx val="2094734552"/>
        <c:crosses val="autoZero"/>
        <c:crossBetween val="between"/>
        <c:majorUnit val="20"/>
        <c:minorUnit val="10"/>
      </c:valAx>
      <c:spPr>
        <a:noFill/>
        <a:ln w="12700" cap="flat">
          <a:noFill/>
          <a:miter lim="400000"/>
        </a:ln>
        <a:effectLst/>
      </c:spPr>
    </c:plotArea>
    <c:plotVisOnly val="0"/>
    <c:dispBlanksAs val="gap"/>
  </c:chart>
  <c:spPr>
    <a:noFill/>
    <a:ln>
      <a:noFill/>
    </a:ln>
    <a:effectLst/>
  </c:spPr>
  <c:externalData r:id="rId1">
    <c:autoUpdate val="0"/>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19" name="Shape 119"/>
          <p:cNvSpPr/>
          <p:nvPr>
            <p:ph type="sldImg"/>
          </p:nvPr>
        </p:nvSpPr>
        <p:spPr>
          <a:xfrm>
            <a:off x="1143000" y="685800"/>
            <a:ext cx="4572000" cy="3429000"/>
          </a:xfrm>
          <a:prstGeom prst="rect">
            <a:avLst/>
          </a:prstGeom>
        </p:spPr>
        <p:txBody>
          <a:bodyPr/>
          <a:lstStyle/>
          <a:p>
            <a:pPr/>
          </a:p>
        </p:txBody>
      </p:sp>
      <p:sp>
        <p:nvSpPr>
          <p:cNvPr id="120" name="Shape 12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9" name="Shape 129"/>
          <p:cNvSpPr/>
          <p:nvPr>
            <p:ph type="sldImg"/>
          </p:nvPr>
        </p:nvSpPr>
        <p:spPr>
          <a:prstGeom prst="rect">
            <a:avLst/>
          </a:prstGeom>
        </p:spPr>
        <p:txBody>
          <a:bodyPr/>
          <a:lstStyle/>
          <a:p>
            <a:pPr/>
          </a:p>
        </p:txBody>
      </p:sp>
      <p:sp>
        <p:nvSpPr>
          <p:cNvPr id="130" name="Shape 130"/>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REACTOR: a voice agent that can be interrupted, corrected and changed mid-sentence, and still does the right thing.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 name="Shape 156"/>
          <p:cNvSpPr/>
          <p:nvPr>
            <p:ph type="sldImg"/>
          </p:nvPr>
        </p:nvSpPr>
        <p:spPr>
          <a:prstGeom prst="rect">
            <a:avLst/>
          </a:prstGeom>
        </p:spPr>
        <p:txBody>
          <a:bodyPr/>
          <a:lstStyle/>
          <a:p>
            <a:pPr/>
          </a:p>
        </p:txBody>
      </p:sp>
      <p:sp>
        <p:nvSpPr>
          <p:cNvPr id="157" name="Shape 157"/>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Open with the sentence everyone has said out loud. A human hears 'wait, actually' and just adjusts. Most voice agents have already booked Mumbai. Full-duplex means the agent listens while it speaks, so this moment is normal, not an edge case.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Shape 188"/>
          <p:cNvSpPr/>
          <p:nvPr>
            <p:ph type="sldImg"/>
          </p:nvPr>
        </p:nvSpPr>
        <p:spPr>
          <a:prstGeom prst="rect">
            <a:avLst/>
          </a:prstGeom>
        </p:spPr>
        <p:txBody>
          <a:bodyPr/>
          <a:lstStyle/>
          <a:p>
            <a:pPr/>
          </a:p>
        </p:txBody>
      </p:sp>
      <p:sp>
        <p:nvSpPr>
          <p:cNvPr id="189" name="Shape 189"/>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Current voice agents let the model fire tools the instant it thinks of them. Nothing tracks which version of the request is still alive. Walk through the four failures, then land on the root cause on the right.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Shape 228"/>
          <p:cNvSpPr/>
          <p:nvPr>
            <p:ph type="sldImg"/>
          </p:nvPr>
        </p:nvSpPr>
        <p:spPr>
          <a:prstGeom prst="rect">
            <a:avLst/>
          </a:prstGeom>
        </p:spPr>
        <p:txBody>
          <a:bodyPr/>
          <a:lstStyle/>
          <a:p>
            <a:pPr/>
          </a:p>
        </p:txBody>
      </p:sp>
      <p:sp>
        <p:nvSpPr>
          <p:cNvPr id="229" name="Shape 229"/>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The model keeps talking. It only proposes. Every proposal goes through the Versioned Intent Controller, which decides what is still valid. Audio stays fast, execution stays safe.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2" name="Shape 272"/>
          <p:cNvSpPr/>
          <p:nvPr>
            <p:ph type="sldImg"/>
          </p:nvPr>
        </p:nvSpPr>
        <p:spPr>
          <a:prstGeom prst="rect">
            <a:avLst/>
          </a:prstGeom>
        </p:spPr>
        <p:txBody>
          <a:bodyPr/>
          <a:lstStyle/>
          <a:p>
            <a:pPr/>
          </a:p>
        </p:txBody>
      </p:sp>
      <p:sp>
        <p:nvSpPr>
          <p:cNvPr id="273" name="Shape 273"/>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This is the live demo, and it also runs offline with python -m reactor.demo. Watch the controller: the 600 second timer is cancelled before it is ever dispatched, and exactly one 420 second timer exists.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9" name="Shape 319"/>
          <p:cNvSpPr/>
          <p:nvPr>
            <p:ph type="sldImg"/>
          </p:nvPr>
        </p:nvSpPr>
        <p:spPr>
          <a:prstGeom prst="rect">
            <a:avLst/>
          </a:prstGeom>
        </p:spPr>
        <p:txBody>
          <a:bodyPr/>
          <a:lstStyle/>
          <a:p>
            <a:pPr/>
          </a:p>
        </p:txBody>
      </p:sp>
      <p:sp>
        <p:nvSpPr>
          <p:cNvPr id="320" name="Shape 320"/>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Nothing exotic. The novelty is the controller, so the stack stays boring and reproducible: pinned versions, a pinned benchmark commit, and a notebook that runs the whole thing on a Kaggle T4 pair.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6" name="Shape 356"/>
          <p:cNvSpPr/>
          <p:nvPr>
            <p:ph type="sldImg"/>
          </p:nvPr>
        </p:nvSpPr>
        <p:spPr>
          <a:prstGeom prst="rect">
            <a:avLst/>
          </a:prstGeom>
        </p:spPr>
        <p:txBody>
          <a:bodyPr/>
          <a:lstStyle/>
          <a:p>
            <a:pPr/>
          </a:p>
        </p:txBody>
      </p:sp>
      <p:sp>
        <p:nvSpPr>
          <p:cNvPr id="357" name="Shape 357"/>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The wrong booking or payment costs real money and real trust. The benchmark covers seven read tools and five write tools; writes are the dangerous ones, so they are serialised. The kitchen timer proves it is not benchmark-only.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8" name="Shape 368"/>
          <p:cNvSpPr/>
          <p:nvPr>
            <p:ph type="sldImg"/>
          </p:nvPr>
        </p:nvSpPr>
        <p:spPr>
          <a:prstGeom prst="rect">
            <a:avLst/>
          </a:prstGeom>
        </p:spPr>
        <p:txBody>
          <a:bodyPr/>
          <a:lstStyle/>
          <a:p>
            <a:pPr/>
          </a:p>
        </p:txBody>
      </p:sp>
      <p:sp>
        <p:nvSpPr>
          <p:cNvPr id="369" name="Shape 369"/>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Be upfront. The engine is proven by 203 passing tests with no network. Insert the final measured accuracy from docs/results before presenting. Limitations are real: it is tied to one realtime model and mock tools.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8" name="Shape 398"/>
          <p:cNvSpPr/>
          <p:nvPr>
            <p:ph type="sldImg"/>
          </p:nvPr>
        </p:nvSpPr>
        <p:spPr>
          <a:prstGeom prst="rect">
            <a:avLst/>
          </a:prstGeom>
        </p:spPr>
        <p:txBody>
          <a:bodyPr/>
          <a:lstStyle/>
          <a:p>
            <a:pPr/>
          </a:p>
        </p:txBody>
      </p:sp>
      <p:sp>
        <p:nvSpPr>
          <p:cNvPr id="399" name="Shape 399"/>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The engine is done; the roadmap is about trust in the real world. Real tools need compensation: if a write already happened, the agent has to be able to undo it.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6" name="Shape 426"/>
          <p:cNvSpPr/>
          <p:nvPr>
            <p:ph type="sldImg"/>
          </p:nvPr>
        </p:nvSpPr>
        <p:spPr>
          <a:prstGeom prst="rect">
            <a:avLst/>
          </a:prstGeom>
        </p:spPr>
        <p:txBody>
          <a:bodyPr/>
          <a:lstStyle/>
          <a:p>
            <a:pPr/>
          </a:p>
        </p:txBody>
      </p:sp>
      <p:sp>
        <p:nvSpPr>
          <p:cNvPr id="427" name="Shape 427"/>
          <p:cNvSpPr/>
          <p:nvPr>
            <p:ph type="body" sz="quarter" idx="1"/>
          </p:nvPr>
        </p:nvSpPr>
        <p:spPr>
          <a:prstGeom prst="rect">
            <a:avLst/>
          </a:prstGeom>
        </p:spPr>
        <p:txBody>
          <a:bodyPr/>
          <a:lstStyle>
            <a:lvl1pPr marL="228600">
              <a:defRPr sz="1200">
                <a:latin typeface="Calibri"/>
                <a:ea typeface="Calibri"/>
                <a:cs typeface="Calibri"/>
                <a:sym typeface="Calibri"/>
              </a:defRPr>
            </a:lvl1pPr>
          </a:lstStyle>
          <a:p>
            <a:pPr/>
            <a:r>
              <a:t>Five things judges can verify themselves in minutes: no answers in source, all tests pass offline, one command reproduces, pinned benchmark, and a second domain beyond the benchmark.</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5" name="Shape 435"/>
          <p:cNvSpPr/>
          <p:nvPr>
            <p:ph type="sldImg"/>
          </p:nvPr>
        </p:nvSpPr>
        <p:spPr>
          <a:prstGeom prst="rect">
            <a:avLst/>
          </a:prstGeom>
        </p:spPr>
        <p:txBody>
          <a:bodyPr/>
          <a:lstStyle/>
          <a:p>
            <a:pPr/>
          </a:p>
        </p:txBody>
      </p:sp>
      <p:sp>
        <p:nvSpPr>
          <p:cNvPr id="436" name="Shape 436"/>
          <p:cNvSpPr/>
          <p:nvPr>
            <p:ph type="body" sz="quarter" idx="1"/>
          </p:nvPr>
        </p:nvSpPr>
        <p:spPr>
          <a:prstGeom prst="rect">
            <a:avLst/>
          </a:prstGeom>
        </p:spPr>
        <p:txBody>
          <a:bodyPr/>
          <a:lstStyle>
            <a:lvl1pPr>
              <a:defRPr sz="1200">
                <a:latin typeface="Calibri"/>
                <a:ea typeface="Calibri"/>
                <a:cs typeface="Calibri"/>
                <a:sym typeface="Calibri"/>
              </a:defRPr>
            </a:lvl1pPr>
          </a:lstStyle>
          <a:p>
            <a:pPr/>
            <a:r>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18" name="Title Text"/>
          <p:cNvSpPr txBox="1"/>
          <p:nvPr>
            <p:ph type="title"/>
          </p:nvPr>
        </p:nvSpPr>
        <p:spPr>
          <a:xfrm>
            <a:off x="838200" y="365125"/>
            <a:ext cx="10515600" cy="1325563"/>
          </a:xfrm>
          <a:prstGeom prst="rect">
            <a:avLst/>
          </a:prstGeom>
        </p:spPr>
        <p:txBody>
          <a:bodyPr/>
          <a:lstStyle/>
          <a:p>
            <a:pPr/>
            <a:r>
              <a:t>Title Text</a:t>
            </a:r>
          </a:p>
        </p:txBody>
      </p:sp>
      <p:sp>
        <p:nvSpPr>
          <p:cNvPr id="19" name="Body Level One…"/>
          <p:cNvSpPr txBox="1"/>
          <p:nvPr>
            <p:ph type="body" idx="1"/>
          </p:nvPr>
        </p:nvSpPr>
        <p:spPr>
          <a:xfrm>
            <a:off x="838200" y="1825625"/>
            <a:ext cx="10515600" cy="4351338"/>
          </a:xfrm>
          <a:prstGeom prst="rect">
            <a:avLst/>
          </a:prstGeom>
        </p:spPr>
        <p:txBody>
          <a:bodyPr/>
          <a:lstStyle>
            <a:lvl1pPr indent="-342900"/>
            <a:lvl2pPr marL="971550" indent="-400050"/>
            <a:lvl3pPr marL="1508760" indent="-480060"/>
          </a:lstStyle>
          <a:p>
            <a:pPr/>
            <a:r>
              <a:t>Body Level One</a:t>
            </a:r>
          </a:p>
          <a:p>
            <a:pPr lvl="1"/>
            <a:r>
              <a:t>Body Level Two</a:t>
            </a:r>
          </a:p>
          <a:p>
            <a:pPr lvl="2"/>
            <a:r>
              <a:t>Body Level Three</a:t>
            </a:r>
          </a:p>
          <a:p>
            <a:pPr lvl="3"/>
            <a:r>
              <a:t>Body Level Four</a:t>
            </a:r>
          </a:p>
          <a:p>
            <a:pPr lvl="4"/>
            <a:r>
              <a:t>Body Level Five</a:t>
            </a:r>
          </a:p>
        </p:txBody>
      </p:sp>
      <p:sp>
        <p:nvSpPr>
          <p:cNvPr id="20" name="Slide Number"/>
          <p:cNvSpPr txBox="1"/>
          <p:nvPr>
            <p:ph type="sldNum" sz="quarter" idx="2"/>
          </p:nvPr>
        </p:nvSpPr>
        <p:spPr>
          <a:xfrm>
            <a:off x="11095216" y="6414780"/>
            <a:ext cx="258585" cy="248265"/>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27" name="Title Text"/>
          <p:cNvSpPr txBox="1"/>
          <p:nvPr>
            <p:ph type="title"/>
          </p:nvPr>
        </p:nvSpPr>
        <p:spPr>
          <a:xfrm>
            <a:off x="1524000" y="1122362"/>
            <a:ext cx="9144000" cy="2387601"/>
          </a:xfrm>
          <a:prstGeom prst="rect">
            <a:avLst/>
          </a:prstGeom>
        </p:spPr>
        <p:txBody>
          <a:bodyPr anchor="b"/>
          <a:lstStyle>
            <a:lvl1pPr algn="ctr">
              <a:defRPr sz="6000"/>
            </a:lvl1pPr>
          </a:lstStyle>
          <a:p>
            <a:pPr/>
            <a:r>
              <a:t>Title Text</a:t>
            </a:r>
          </a:p>
        </p:txBody>
      </p:sp>
      <p:sp>
        <p:nvSpPr>
          <p:cNvPr id="28" name="Body Level One…"/>
          <p:cNvSpPr txBox="1"/>
          <p:nvPr>
            <p:ph type="body" sz="quarter" idx="1"/>
          </p:nvPr>
        </p:nvSpPr>
        <p:spPr>
          <a:xfrm>
            <a:off x="1524000" y="3602037"/>
            <a:ext cx="9144000" cy="1655763"/>
          </a:xfrm>
          <a:prstGeom prst="rect">
            <a:avLst/>
          </a:prstGeom>
        </p:spPr>
        <p:txBody>
          <a:bodyPr/>
          <a:lstStyle>
            <a:lvl1pPr marL="406400" indent="-355600" algn="ctr">
              <a:buClrTx/>
              <a:buSzTx/>
              <a:buFontTx/>
              <a:buNone/>
              <a:defRPr sz="2400"/>
            </a:lvl1pPr>
            <a:lvl2pPr marL="406400" indent="127000" algn="ctr">
              <a:buClrTx/>
              <a:buSzTx/>
              <a:buFontTx/>
              <a:buNone/>
              <a:defRPr sz="2400"/>
            </a:lvl2pPr>
            <a:lvl3pPr marL="406400" indent="609600" algn="ctr">
              <a:buClrTx/>
              <a:buSzTx/>
              <a:buFontTx/>
              <a:buNone/>
              <a:defRPr sz="2400"/>
            </a:lvl3pPr>
            <a:lvl4pPr marL="406400" indent="1079500" algn="ctr">
              <a:buClrTx/>
              <a:buSzTx/>
              <a:buFontTx/>
              <a:buNone/>
              <a:defRPr sz="2400"/>
            </a:lvl4pPr>
            <a:lvl5pPr marL="406400" indent="1536700" algn="ctr">
              <a:buClrTx/>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29" name="Slide Number"/>
          <p:cNvSpPr txBox="1"/>
          <p:nvPr>
            <p:ph type="sldNum" sz="quarter" idx="2"/>
          </p:nvPr>
        </p:nvSpPr>
        <p:spPr>
          <a:xfrm>
            <a:off x="11095216" y="6414780"/>
            <a:ext cx="258585" cy="248265"/>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_HEADER">
    <p:spTree>
      <p:nvGrpSpPr>
        <p:cNvPr id="1" name=""/>
        <p:cNvGrpSpPr/>
        <p:nvPr/>
      </p:nvGrpSpPr>
      <p:grpSpPr>
        <a:xfrm>
          <a:off x="0" y="0"/>
          <a:ext cx="0" cy="0"/>
          <a:chOff x="0" y="0"/>
          <a:chExt cx="0" cy="0"/>
        </a:xfrm>
      </p:grpSpPr>
      <p:sp>
        <p:nvSpPr>
          <p:cNvPr id="36"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37" name="Body Level One…"/>
          <p:cNvSpPr txBox="1"/>
          <p:nvPr>
            <p:ph type="body" sz="quarter" idx="1"/>
          </p:nvPr>
        </p:nvSpPr>
        <p:spPr>
          <a:xfrm>
            <a:off x="831850" y="4589462"/>
            <a:ext cx="10515600" cy="1500188"/>
          </a:xfrm>
          <a:prstGeom prst="rect">
            <a:avLst/>
          </a:prstGeom>
        </p:spPr>
        <p:txBody>
          <a:bodyPr/>
          <a:lstStyle>
            <a:lvl1pPr marL="228600" indent="0">
              <a:buClrTx/>
              <a:buSzTx/>
              <a:buFontTx/>
              <a:buNone/>
              <a:defRPr sz="2400">
                <a:solidFill>
                  <a:srgbClr val="888888"/>
                </a:solidFill>
              </a:defRPr>
            </a:lvl1pPr>
            <a:lvl2pPr marL="228600" indent="457200">
              <a:buClrTx/>
              <a:buSzTx/>
              <a:buFontTx/>
              <a:buNone/>
              <a:defRPr sz="2400">
                <a:solidFill>
                  <a:srgbClr val="888888"/>
                </a:solidFill>
              </a:defRPr>
            </a:lvl2pPr>
            <a:lvl3pPr marL="228600" indent="914400">
              <a:buClrTx/>
              <a:buSzTx/>
              <a:buFontTx/>
              <a:buNone/>
              <a:defRPr sz="2400">
                <a:solidFill>
                  <a:srgbClr val="888888"/>
                </a:solidFill>
              </a:defRPr>
            </a:lvl3pPr>
            <a:lvl4pPr marL="228600" indent="1371600">
              <a:buClrTx/>
              <a:buSzTx/>
              <a:buFontTx/>
              <a:buNone/>
              <a:defRPr sz="2400">
                <a:solidFill>
                  <a:srgbClr val="888888"/>
                </a:solidFill>
              </a:defRPr>
            </a:lvl4pPr>
            <a:lvl5pPr marL="228600" indent="1828800">
              <a:buClrTx/>
              <a:buSzTx/>
              <a:buFontTx/>
              <a:buNone/>
              <a:defRPr sz="2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8" name="Slide Number"/>
          <p:cNvSpPr txBox="1"/>
          <p:nvPr>
            <p:ph type="sldNum" sz="quarter" idx="2"/>
          </p:nvPr>
        </p:nvSpPr>
        <p:spPr>
          <a:xfrm>
            <a:off x="11095216" y="6414780"/>
            <a:ext cx="258585" cy="248265"/>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
    <p:spTree>
      <p:nvGrpSpPr>
        <p:cNvPr id="1" name=""/>
        <p:cNvGrpSpPr/>
        <p:nvPr/>
      </p:nvGrpSpPr>
      <p:grpSpPr>
        <a:xfrm>
          <a:off x="0" y="0"/>
          <a:ext cx="0" cy="0"/>
          <a:chOff x="0" y="0"/>
          <a:chExt cx="0" cy="0"/>
        </a:xfrm>
      </p:grpSpPr>
      <p:sp>
        <p:nvSpPr>
          <p:cNvPr id="45" name="Title Text"/>
          <p:cNvSpPr txBox="1"/>
          <p:nvPr>
            <p:ph type="title"/>
          </p:nvPr>
        </p:nvSpPr>
        <p:spPr>
          <a:xfrm>
            <a:off x="838200" y="365125"/>
            <a:ext cx="10515600" cy="1325563"/>
          </a:xfrm>
          <a:prstGeom prst="rect">
            <a:avLst/>
          </a:prstGeom>
        </p:spPr>
        <p:txBody>
          <a:bodyPr/>
          <a:lstStyle/>
          <a:p>
            <a:pPr/>
            <a:r>
              <a:t>Title Text</a:t>
            </a:r>
          </a:p>
        </p:txBody>
      </p:sp>
      <p:sp>
        <p:nvSpPr>
          <p:cNvPr id="46" name="Body Level One…"/>
          <p:cNvSpPr txBox="1"/>
          <p:nvPr>
            <p:ph type="body" sz="half" idx="1"/>
          </p:nvPr>
        </p:nvSpPr>
        <p:spPr>
          <a:xfrm>
            <a:off x="838200" y="1825625"/>
            <a:ext cx="5181600" cy="4351338"/>
          </a:xfrm>
          <a:prstGeom prst="rect">
            <a:avLst/>
          </a:prstGeom>
        </p:spPr>
        <p:txBody>
          <a:bodyPr/>
          <a:lstStyle>
            <a:lvl1pPr indent="-342900"/>
            <a:lvl2pPr marL="971550" indent="-400050"/>
            <a:lvl3pPr marL="1508760" indent="-480060"/>
          </a:lstStyle>
          <a:p>
            <a:pPr/>
            <a:r>
              <a:t>Body Level One</a:t>
            </a:r>
          </a:p>
          <a:p>
            <a:pPr lvl="1"/>
            <a:r>
              <a:t>Body Level Two</a:t>
            </a:r>
          </a:p>
          <a:p>
            <a:pPr lvl="2"/>
            <a:r>
              <a:t>Body Level Three</a:t>
            </a:r>
          </a:p>
          <a:p>
            <a:pPr lvl="3"/>
            <a:r>
              <a:t>Body Level Four</a:t>
            </a:r>
          </a:p>
          <a:p>
            <a:pPr lvl="4"/>
            <a:r>
              <a:t>Body Level Five</a:t>
            </a:r>
          </a:p>
        </p:txBody>
      </p:sp>
      <p:sp>
        <p:nvSpPr>
          <p:cNvPr id="47" name="Google Shape;37;p18"/>
          <p:cNvSpPr txBox="1"/>
          <p:nvPr>
            <p:ph type="body" sz="half" idx="21"/>
          </p:nvPr>
        </p:nvSpPr>
        <p:spPr>
          <a:xfrm>
            <a:off x="6172200" y="1825625"/>
            <a:ext cx="5181600" cy="4351338"/>
          </a:xfrm>
          <a:prstGeom prst="rect">
            <a:avLst/>
          </a:prstGeom>
        </p:spPr>
        <p:txBody>
          <a:bodyPr/>
          <a:lstStyle/>
          <a:p>
            <a:pPr indent="-342900"/>
          </a:p>
        </p:txBody>
      </p:sp>
      <p:sp>
        <p:nvSpPr>
          <p:cNvPr id="48" name="Slide Number"/>
          <p:cNvSpPr txBox="1"/>
          <p:nvPr>
            <p:ph type="sldNum" sz="quarter" idx="2"/>
          </p:nvPr>
        </p:nvSpPr>
        <p:spPr>
          <a:xfrm>
            <a:off x="11095216" y="6414780"/>
            <a:ext cx="258585" cy="248265"/>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_OBJECTS_WITH_TEXT">
    <p:spTree>
      <p:nvGrpSpPr>
        <p:cNvPr id="1" name=""/>
        <p:cNvGrpSpPr/>
        <p:nvPr/>
      </p:nvGrpSpPr>
      <p:grpSpPr>
        <a:xfrm>
          <a:off x="0" y="0"/>
          <a:ext cx="0" cy="0"/>
          <a:chOff x="0" y="0"/>
          <a:chExt cx="0" cy="0"/>
        </a:xfrm>
      </p:grpSpPr>
      <p:sp>
        <p:nvSpPr>
          <p:cNvPr id="55" name="Title Text"/>
          <p:cNvSpPr txBox="1"/>
          <p:nvPr>
            <p:ph type="title"/>
          </p:nvPr>
        </p:nvSpPr>
        <p:spPr>
          <a:xfrm>
            <a:off x="839787" y="365125"/>
            <a:ext cx="10515601" cy="1325563"/>
          </a:xfrm>
          <a:prstGeom prst="rect">
            <a:avLst/>
          </a:prstGeom>
        </p:spPr>
        <p:txBody>
          <a:bodyPr/>
          <a:lstStyle/>
          <a:p>
            <a:pPr/>
            <a:r>
              <a:t>Title Text</a:t>
            </a:r>
          </a:p>
        </p:txBody>
      </p:sp>
      <p:sp>
        <p:nvSpPr>
          <p:cNvPr id="56" name="Body Level One…"/>
          <p:cNvSpPr txBox="1"/>
          <p:nvPr>
            <p:ph type="body" sz="quarter" idx="1"/>
          </p:nvPr>
        </p:nvSpPr>
        <p:spPr>
          <a:xfrm>
            <a:off x="839787" y="1681163"/>
            <a:ext cx="5157789" cy="823913"/>
          </a:xfrm>
          <a:prstGeom prst="rect">
            <a:avLst/>
          </a:prstGeom>
        </p:spPr>
        <p:txBody>
          <a:bodyPr anchor="b"/>
          <a:lstStyle>
            <a:lvl1pPr marL="228600" indent="0">
              <a:buClrTx/>
              <a:buSzTx/>
              <a:buFontTx/>
              <a:buNone/>
              <a:defRPr b="1" sz="2400"/>
            </a:lvl1pPr>
            <a:lvl2pPr marL="228600" indent="457200">
              <a:buClrTx/>
              <a:buSzTx/>
              <a:buFontTx/>
              <a:buNone/>
              <a:defRPr b="1" sz="2400"/>
            </a:lvl2pPr>
            <a:lvl3pPr marL="228600" indent="914400">
              <a:buClrTx/>
              <a:buSzTx/>
              <a:buFontTx/>
              <a:buNone/>
              <a:defRPr b="1" sz="2400"/>
            </a:lvl3pPr>
            <a:lvl4pPr marL="228600" indent="1371600">
              <a:buClrTx/>
              <a:buSzTx/>
              <a:buFontTx/>
              <a:buNone/>
              <a:defRPr b="1" sz="2400"/>
            </a:lvl4pPr>
            <a:lvl5pPr marL="228600" indent="1828800">
              <a:buClrTx/>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57" name="Google Shape;44;p19"/>
          <p:cNvSpPr txBox="1"/>
          <p:nvPr>
            <p:ph type="body" sz="half" idx="21"/>
          </p:nvPr>
        </p:nvSpPr>
        <p:spPr>
          <a:xfrm>
            <a:off x="839787" y="2505075"/>
            <a:ext cx="5157789" cy="3684588"/>
          </a:xfrm>
          <a:prstGeom prst="rect">
            <a:avLst/>
          </a:prstGeom>
        </p:spPr>
        <p:txBody>
          <a:bodyPr/>
          <a:lstStyle/>
          <a:p>
            <a:pPr indent="-342900"/>
          </a:p>
        </p:txBody>
      </p:sp>
      <p:sp>
        <p:nvSpPr>
          <p:cNvPr id="58" name="Google Shape;45;p19"/>
          <p:cNvSpPr txBox="1"/>
          <p:nvPr>
            <p:ph type="body" sz="quarter" idx="22"/>
          </p:nvPr>
        </p:nvSpPr>
        <p:spPr>
          <a:xfrm>
            <a:off x="6172200" y="1681163"/>
            <a:ext cx="5183188" cy="823913"/>
          </a:xfrm>
          <a:prstGeom prst="rect">
            <a:avLst/>
          </a:prstGeom>
        </p:spPr>
        <p:txBody>
          <a:bodyPr anchor="b"/>
          <a:lstStyle/>
          <a:p>
            <a:pPr marL="228600" indent="0">
              <a:buClrTx/>
              <a:buSzTx/>
              <a:buFontTx/>
              <a:buNone/>
              <a:defRPr b="1" sz="2400"/>
            </a:pPr>
          </a:p>
        </p:txBody>
      </p:sp>
      <p:sp>
        <p:nvSpPr>
          <p:cNvPr id="59" name="Google Shape;46;p19"/>
          <p:cNvSpPr txBox="1"/>
          <p:nvPr>
            <p:ph type="body" sz="half" idx="23"/>
          </p:nvPr>
        </p:nvSpPr>
        <p:spPr>
          <a:xfrm>
            <a:off x="6172200" y="2505075"/>
            <a:ext cx="5183188" cy="3684588"/>
          </a:xfrm>
          <a:prstGeom prst="rect">
            <a:avLst/>
          </a:prstGeom>
        </p:spPr>
        <p:txBody>
          <a:bodyPr/>
          <a:lstStyle/>
          <a:p>
            <a:pPr indent="-342900"/>
          </a:p>
        </p:txBody>
      </p:sp>
      <p:sp>
        <p:nvSpPr>
          <p:cNvPr id="60" name="Slide Number"/>
          <p:cNvSpPr txBox="1"/>
          <p:nvPr>
            <p:ph type="sldNum" sz="quarter" idx="2"/>
          </p:nvPr>
        </p:nvSpPr>
        <p:spPr>
          <a:xfrm>
            <a:off x="11095216" y="6414780"/>
            <a:ext cx="258585" cy="248265"/>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ONLY">
    <p:spTree>
      <p:nvGrpSpPr>
        <p:cNvPr id="1" name=""/>
        <p:cNvGrpSpPr/>
        <p:nvPr/>
      </p:nvGrpSpPr>
      <p:grpSpPr>
        <a:xfrm>
          <a:off x="0" y="0"/>
          <a:ext cx="0" cy="0"/>
          <a:chOff x="0" y="0"/>
          <a:chExt cx="0" cy="0"/>
        </a:xfrm>
      </p:grpSpPr>
      <p:sp>
        <p:nvSpPr>
          <p:cNvPr id="67" name="Title Text"/>
          <p:cNvSpPr txBox="1"/>
          <p:nvPr>
            <p:ph type="title"/>
          </p:nvPr>
        </p:nvSpPr>
        <p:spPr>
          <a:xfrm>
            <a:off x="838200" y="365125"/>
            <a:ext cx="10515600" cy="1325563"/>
          </a:xfrm>
          <a:prstGeom prst="rect">
            <a:avLst/>
          </a:prstGeom>
        </p:spPr>
        <p:txBody>
          <a:bodyPr/>
          <a:lstStyle/>
          <a:p>
            <a:pPr/>
            <a:r>
              <a:t>Title Text</a:t>
            </a:r>
          </a:p>
        </p:txBody>
      </p:sp>
      <p:sp>
        <p:nvSpPr>
          <p:cNvPr id="68" name="Slide Number"/>
          <p:cNvSpPr txBox="1"/>
          <p:nvPr>
            <p:ph type="sldNum" sz="quarter" idx="2"/>
          </p:nvPr>
        </p:nvSpPr>
        <p:spPr>
          <a:xfrm>
            <a:off x="11095216" y="6414780"/>
            <a:ext cx="258585" cy="248265"/>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75" name="Slide Number"/>
          <p:cNvSpPr txBox="1"/>
          <p:nvPr>
            <p:ph type="sldNum" sz="quarter" idx="2"/>
          </p:nvPr>
        </p:nvSpPr>
        <p:spPr>
          <a:xfrm>
            <a:off x="11095216" y="6414780"/>
            <a:ext cx="258585" cy="248265"/>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_WITH_CAPTION_TEXT">
    <p:spTree>
      <p:nvGrpSpPr>
        <p:cNvPr id="1" name=""/>
        <p:cNvGrpSpPr/>
        <p:nvPr/>
      </p:nvGrpSpPr>
      <p:grpSpPr>
        <a:xfrm>
          <a:off x="0" y="0"/>
          <a:ext cx="0" cy="0"/>
          <a:chOff x="0" y="0"/>
          <a:chExt cx="0" cy="0"/>
        </a:xfrm>
      </p:grpSpPr>
      <p:sp>
        <p:nvSpPr>
          <p:cNvPr id="82"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83" name="Body Level One…"/>
          <p:cNvSpPr txBox="1"/>
          <p:nvPr>
            <p:ph type="body" sz="half" idx="1"/>
          </p:nvPr>
        </p:nvSpPr>
        <p:spPr>
          <a:xfrm>
            <a:off x="5183187" y="987425"/>
            <a:ext cx="6172201" cy="4873625"/>
          </a:xfrm>
          <a:prstGeom prst="rect">
            <a:avLst/>
          </a:prstGeom>
        </p:spPr>
        <p:txBody>
          <a:bodyPr/>
          <a:lstStyle>
            <a:lvl1pPr indent="-431800">
              <a:buSzPts val="3200"/>
              <a:defRPr sz="3200"/>
            </a:lvl1pPr>
            <a:lvl2pPr marL="972457" indent="-464457">
              <a:buSzPts val="3200"/>
              <a:defRPr sz="3200"/>
            </a:lvl2pPr>
            <a:lvl3pPr marL="1498600" indent="-508000">
              <a:buSzPts val="3200"/>
              <a:defRPr sz="3200"/>
            </a:lvl3pPr>
            <a:lvl4pPr marL="2042160" indent="-568960">
              <a:buSzPts val="3200"/>
              <a:defRPr sz="3200"/>
            </a:lvl4pPr>
            <a:lvl5pPr marL="2499360" indent="-568960">
              <a:buSzPts val="3200"/>
              <a:defRPr sz="3200"/>
            </a:lvl5pPr>
          </a:lstStyle>
          <a:p>
            <a:pPr/>
            <a:r>
              <a:t>Body Level One</a:t>
            </a:r>
          </a:p>
          <a:p>
            <a:pPr lvl="1"/>
            <a:r>
              <a:t>Body Level Two</a:t>
            </a:r>
          </a:p>
          <a:p>
            <a:pPr lvl="2"/>
            <a:r>
              <a:t>Body Level Three</a:t>
            </a:r>
          </a:p>
          <a:p>
            <a:pPr lvl="3"/>
            <a:r>
              <a:t>Body Level Four</a:t>
            </a:r>
          </a:p>
          <a:p>
            <a:pPr lvl="4"/>
            <a:r>
              <a:t>Body Level Five</a:t>
            </a:r>
          </a:p>
        </p:txBody>
      </p:sp>
      <p:sp>
        <p:nvSpPr>
          <p:cNvPr id="84" name="Google Shape;62;p22"/>
          <p:cNvSpPr txBox="1"/>
          <p:nvPr>
            <p:ph type="body" sz="quarter" idx="21"/>
          </p:nvPr>
        </p:nvSpPr>
        <p:spPr>
          <a:xfrm>
            <a:off x="839787" y="2057400"/>
            <a:ext cx="3932239" cy="3811588"/>
          </a:xfrm>
          <a:prstGeom prst="rect">
            <a:avLst/>
          </a:prstGeom>
        </p:spPr>
        <p:txBody>
          <a:bodyPr/>
          <a:lstStyle/>
          <a:p>
            <a:pPr marL="228600" indent="0">
              <a:buClrTx/>
              <a:buSzTx/>
              <a:buFontTx/>
              <a:buNone/>
              <a:defRPr sz="1600"/>
            </a:pPr>
          </a:p>
        </p:txBody>
      </p:sp>
      <p:sp>
        <p:nvSpPr>
          <p:cNvPr id="85" name="Slide Number"/>
          <p:cNvSpPr txBox="1"/>
          <p:nvPr>
            <p:ph type="sldNum" sz="quarter" idx="2"/>
          </p:nvPr>
        </p:nvSpPr>
        <p:spPr>
          <a:xfrm>
            <a:off x="11095216" y="6414780"/>
            <a:ext cx="258585" cy="248265"/>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_WITH_CAPTION_TEXT">
    <p:spTree>
      <p:nvGrpSpPr>
        <p:cNvPr id="1" name=""/>
        <p:cNvGrpSpPr/>
        <p:nvPr/>
      </p:nvGrpSpPr>
      <p:grpSpPr>
        <a:xfrm>
          <a:off x="0" y="0"/>
          <a:ext cx="0" cy="0"/>
          <a:chOff x="0" y="0"/>
          <a:chExt cx="0" cy="0"/>
        </a:xfrm>
      </p:grpSpPr>
      <p:sp>
        <p:nvSpPr>
          <p:cNvPr id="92"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93" name="Google Shape;68;p23"/>
          <p:cNvSpPr/>
          <p:nvPr>
            <p:ph type="pic" sz="half" idx="21"/>
          </p:nvPr>
        </p:nvSpPr>
        <p:spPr>
          <a:xfrm>
            <a:off x="5183187" y="987425"/>
            <a:ext cx="6172201" cy="4873625"/>
          </a:xfrm>
          <a:prstGeom prst="rect">
            <a:avLst/>
          </a:prstGeom>
        </p:spPr>
        <p:txBody>
          <a:bodyPr lIns="91439" tIns="45719" rIns="91439" bIns="45719">
            <a:noAutofit/>
          </a:bodyPr>
          <a:lstStyle/>
          <a:p>
            <a:pPr/>
          </a:p>
        </p:txBody>
      </p:sp>
      <p:sp>
        <p:nvSpPr>
          <p:cNvPr id="94" name="Body Level One…"/>
          <p:cNvSpPr txBox="1"/>
          <p:nvPr>
            <p:ph type="body" sz="quarter" idx="1"/>
          </p:nvPr>
        </p:nvSpPr>
        <p:spPr>
          <a:xfrm>
            <a:off x="839787" y="2057400"/>
            <a:ext cx="3932239" cy="3811588"/>
          </a:xfrm>
          <a:prstGeom prst="rect">
            <a:avLst/>
          </a:prstGeom>
        </p:spPr>
        <p:txBody>
          <a:bodyP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95" name="Slide Number"/>
          <p:cNvSpPr txBox="1"/>
          <p:nvPr>
            <p:ph type="sldNum" sz="quarter" idx="2"/>
          </p:nvPr>
        </p:nvSpPr>
        <p:spPr>
          <a:xfrm>
            <a:off x="11095216" y="6414780"/>
            <a:ext cx="258585" cy="248265"/>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EXT">
    <p:spTree>
      <p:nvGrpSpPr>
        <p:cNvPr id="1" name=""/>
        <p:cNvGrpSpPr/>
        <p:nvPr/>
      </p:nvGrpSpPr>
      <p:grpSpPr>
        <a:xfrm>
          <a:off x="0" y="0"/>
          <a:ext cx="0" cy="0"/>
          <a:chOff x="0" y="0"/>
          <a:chExt cx="0" cy="0"/>
        </a:xfrm>
      </p:grpSpPr>
      <p:sp>
        <p:nvSpPr>
          <p:cNvPr id="102" name="Title Text"/>
          <p:cNvSpPr txBox="1"/>
          <p:nvPr>
            <p:ph type="title"/>
          </p:nvPr>
        </p:nvSpPr>
        <p:spPr>
          <a:xfrm>
            <a:off x="838200" y="365125"/>
            <a:ext cx="10515600" cy="1325563"/>
          </a:xfrm>
          <a:prstGeom prst="rect">
            <a:avLst/>
          </a:prstGeom>
        </p:spPr>
        <p:txBody>
          <a:bodyPr/>
          <a:lstStyle/>
          <a:p>
            <a:pPr/>
            <a:r>
              <a:t>Title Text</a:t>
            </a:r>
          </a:p>
        </p:txBody>
      </p:sp>
      <p:sp>
        <p:nvSpPr>
          <p:cNvPr id="103" name="Body Level One…"/>
          <p:cNvSpPr txBox="1"/>
          <p:nvPr>
            <p:ph type="body" idx="1"/>
          </p:nvPr>
        </p:nvSpPr>
        <p:spPr>
          <a:xfrm rot="5400000">
            <a:off x="3920330" y="-1256506"/>
            <a:ext cx="4351339" cy="10515601"/>
          </a:xfrm>
          <a:prstGeom prst="rect">
            <a:avLst/>
          </a:prstGeom>
        </p:spPr>
        <p:txBody>
          <a:bodyPr/>
          <a:lstStyle>
            <a:lvl1pPr indent="-342900"/>
            <a:lvl2pPr marL="971550" indent="-400050"/>
            <a:lvl3pPr marL="1508760" indent="-480060"/>
          </a:lstStyle>
          <a:p>
            <a:pPr/>
            <a:r>
              <a:t>Body Level One</a:t>
            </a:r>
          </a:p>
          <a:p>
            <a:pPr lvl="1"/>
            <a:r>
              <a:t>Body Level Two</a:t>
            </a:r>
          </a:p>
          <a:p>
            <a:pPr lvl="2"/>
            <a:r>
              <a:t>Body Level Three</a:t>
            </a:r>
          </a:p>
          <a:p>
            <a:pPr lvl="3"/>
            <a:r>
              <a:t>Body Level Four</a:t>
            </a:r>
          </a:p>
          <a:p>
            <a:pPr lvl="4"/>
            <a:r>
              <a:t>Body Level Five</a:t>
            </a:r>
          </a:p>
        </p:txBody>
      </p:sp>
      <p:sp>
        <p:nvSpPr>
          <p:cNvPr id="104" name="Slide Number"/>
          <p:cNvSpPr txBox="1"/>
          <p:nvPr>
            <p:ph type="sldNum" sz="quarter" idx="2"/>
          </p:nvPr>
        </p:nvSpPr>
        <p:spPr>
          <a:xfrm>
            <a:off x="11095216" y="6414780"/>
            <a:ext cx="258585" cy="248265"/>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VERTICAL_TITLE_AND_VERTICAL_TEXT">
    <p:spTree>
      <p:nvGrpSpPr>
        <p:cNvPr id="1" name=""/>
        <p:cNvGrpSpPr/>
        <p:nvPr/>
      </p:nvGrpSpPr>
      <p:grpSpPr>
        <a:xfrm>
          <a:off x="0" y="0"/>
          <a:ext cx="0" cy="0"/>
          <a:chOff x="0" y="0"/>
          <a:chExt cx="0" cy="0"/>
        </a:xfrm>
      </p:grpSpPr>
      <p:sp>
        <p:nvSpPr>
          <p:cNvPr id="111" name="Title Text"/>
          <p:cNvSpPr txBox="1"/>
          <p:nvPr>
            <p:ph type="title"/>
          </p:nvPr>
        </p:nvSpPr>
        <p:spPr>
          <a:xfrm rot="5400000">
            <a:off x="7133431" y="1956593"/>
            <a:ext cx="5811839" cy="2628901"/>
          </a:xfrm>
          <a:prstGeom prst="rect">
            <a:avLst/>
          </a:prstGeom>
        </p:spPr>
        <p:txBody>
          <a:bodyPr/>
          <a:lstStyle/>
          <a:p>
            <a:pPr/>
            <a:r>
              <a:t>Title Text</a:t>
            </a:r>
          </a:p>
        </p:txBody>
      </p:sp>
      <p:sp>
        <p:nvSpPr>
          <p:cNvPr id="112" name="Body Level One…"/>
          <p:cNvSpPr txBox="1"/>
          <p:nvPr>
            <p:ph type="body" idx="1"/>
          </p:nvPr>
        </p:nvSpPr>
        <p:spPr>
          <a:xfrm rot="5400000">
            <a:off x="1799431" y="-596107"/>
            <a:ext cx="5811838" cy="7734301"/>
          </a:xfrm>
          <a:prstGeom prst="rect">
            <a:avLst/>
          </a:prstGeom>
        </p:spPr>
        <p:txBody>
          <a:bodyPr/>
          <a:lstStyle>
            <a:lvl1pPr indent="-342900"/>
            <a:lvl2pPr marL="971550" indent="-400050"/>
            <a:lvl3pPr marL="1508760" indent="-480060"/>
          </a:lstStyle>
          <a:p>
            <a:pPr/>
            <a:r>
              <a:t>Body Level One</a:t>
            </a:r>
          </a:p>
          <a:p>
            <a:pPr lvl="1"/>
            <a:r>
              <a:t>Body Level Two</a:t>
            </a:r>
          </a:p>
          <a:p>
            <a:pPr lvl="2"/>
            <a:r>
              <a:t>Body Level Three</a:t>
            </a:r>
          </a:p>
          <a:p>
            <a:pPr lvl="3"/>
            <a:r>
              <a:t>Body Level Four</a:t>
            </a:r>
          </a:p>
          <a:p>
            <a:pPr lvl="4"/>
            <a:r>
              <a:t>Body Level Five</a:t>
            </a:r>
          </a:p>
        </p:txBody>
      </p:sp>
      <p:sp>
        <p:nvSpPr>
          <p:cNvPr id="113" name="Slide Number"/>
          <p:cNvSpPr txBox="1"/>
          <p:nvPr>
            <p:ph type="sldNum" sz="quarter" idx="2"/>
          </p:nvPr>
        </p:nvSpPr>
        <p:spPr>
          <a:xfrm>
            <a:off x="11095216" y="6414780"/>
            <a:ext cx="258585" cy="248265"/>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699" tIns="45699" rIns="45699" bIns="45699" anchor="ctr">
            <a:spAutoFit/>
          </a:bodyPr>
          <a:lstStyle>
            <a:lvl1pPr algn="r">
              <a:defRPr sz="1200">
                <a:solidFill>
                  <a:srgbClr val="888888"/>
                </a:solidFill>
                <a:latin typeface="Calibri"/>
                <a:ea typeface="Calibri"/>
                <a:cs typeface="Calibri"/>
                <a:sym typeface="Calibri"/>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a:ea typeface="Calibri"/>
          <a:cs typeface="Calibri"/>
          <a:sym typeface="Calibri"/>
        </a:defRPr>
      </a:lvl9pPr>
    </p:titleStyle>
    <p:bodyStyle>
      <a:lvl1pPr marL="457200" marR="0" indent="-406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1pPr>
      <a:lvl2pPr marL="977900" marR="0" indent="-4445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2pPr>
      <a:lvl3pPr marL="1513839" marR="0" indent="-497839"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3pPr>
      <a:lvl4pPr marL="20193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4pPr>
      <a:lvl5pPr marL="24765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5pPr>
      <a:lvl6pPr marL="29337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6pPr>
      <a:lvl7pPr marL="33909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7pPr>
      <a:lvl8pPr marL="38481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8pPr>
      <a:lvl9pPr marL="4305300" marR="0" indent="-533400" algn="l" defTabSz="914400" rtl="0" latinLnBrk="0">
        <a:lnSpc>
          <a:spcPct val="90000"/>
        </a:lnSpc>
        <a:spcBef>
          <a:spcPts val="1000"/>
        </a:spcBef>
        <a:spcAft>
          <a:spcPts val="0"/>
        </a:spcAft>
        <a:buClr>
          <a:srgbClr val="000000"/>
        </a:buClr>
        <a:buSzPts val="2800"/>
        <a:buFont typeface="Arial"/>
        <a:buChar char="•"/>
        <a:tabLst/>
        <a:defRPr b="0" baseline="0" cap="none" i="0" spc="0" strike="noStrike" sz="28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atharvamendhulkar01@gmail.com" TargetMode="External"/><Relationship Id="rId4" Type="http://schemas.openxmlformats.org/officeDocument/2006/relationships/hyperlink" Target="mailto:0xkhush@gmail.com" TargetMode="External"/><Relationship Id="rId5" Type="http://schemas.openxmlformats.org/officeDocument/2006/relationships/hyperlink" Target="mailto:vasutr2007@gmail.com" TargetMode="External"/><Relationship Id="rId6"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chart" Target="../charts/chart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hart" Target="../charts/char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2" name="Google Shape;90;p1"/>
          <p:cNvSpPr/>
          <p:nvPr/>
        </p:nvSpPr>
        <p:spPr>
          <a:xfrm>
            <a:off x="777240" y="676655"/>
            <a:ext cx="2423161" cy="347473"/>
          </a:xfrm>
          <a:prstGeom prst="roundRect">
            <a:avLst>
              <a:gd name="adj" fmla="val 50000"/>
            </a:avLst>
          </a:prstGeom>
          <a:solidFill>
            <a:srgbClr val="FFFFFF"/>
          </a:solidFill>
          <a:ln w="12700">
            <a:solidFill>
              <a:srgbClr val="D9D3F0"/>
            </a:solidFill>
          </a:ln>
        </p:spPr>
        <p:txBody>
          <a:bodyPr lIns="0" tIns="0" rIns="0" bIns="0" anchor="ctr"/>
          <a:lstStyle/>
          <a:p>
            <a:pPr/>
          </a:p>
        </p:txBody>
      </p:sp>
      <p:sp>
        <p:nvSpPr>
          <p:cNvPr id="123" name="Google Shape;91;p1"/>
          <p:cNvSpPr txBox="1"/>
          <p:nvPr/>
        </p:nvSpPr>
        <p:spPr>
          <a:xfrm>
            <a:off x="777239" y="776477"/>
            <a:ext cx="2423162"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100">
                <a:solidFill>
                  <a:srgbClr val="6D28D9"/>
                </a:solidFill>
              </a:defRPr>
            </a:lvl1pPr>
          </a:lstStyle>
          <a:p>
            <a:pPr/>
            <a:r>
              <a:t>SAMSUNG PRISM</a:t>
            </a:r>
          </a:p>
        </p:txBody>
      </p:sp>
      <p:sp>
        <p:nvSpPr>
          <p:cNvPr id="124" name="Google Shape;92;p1"/>
          <p:cNvSpPr txBox="1"/>
          <p:nvPr/>
        </p:nvSpPr>
        <p:spPr>
          <a:xfrm>
            <a:off x="777240" y="1223998"/>
            <a:ext cx="6126480" cy="71582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5000">
                <a:solidFill>
                  <a:srgbClr val="14142B"/>
                </a:solidFill>
              </a:defRPr>
            </a:lvl1pPr>
          </a:lstStyle>
          <a:p>
            <a:pPr/>
            <a:r>
              <a:t>Generative AI</a:t>
            </a:r>
          </a:p>
        </p:txBody>
      </p:sp>
      <p:sp>
        <p:nvSpPr>
          <p:cNvPr id="125" name="Google Shape;93;p1"/>
          <p:cNvSpPr txBox="1"/>
          <p:nvPr/>
        </p:nvSpPr>
        <p:spPr>
          <a:xfrm>
            <a:off x="777240" y="1918942"/>
            <a:ext cx="6126480" cy="7158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5000">
                <a:solidFill>
                  <a:srgbClr val="6D28D9"/>
                </a:solidFill>
              </a:defRPr>
            </a:lvl1pPr>
          </a:lstStyle>
          <a:p>
            <a:pPr/>
            <a:r>
              <a:t>Hackathon</a:t>
            </a:r>
          </a:p>
        </p:txBody>
      </p:sp>
      <p:sp>
        <p:nvSpPr>
          <p:cNvPr id="126" name="Google Shape;94;p1"/>
          <p:cNvSpPr txBox="1"/>
          <p:nvPr/>
        </p:nvSpPr>
        <p:spPr>
          <a:xfrm>
            <a:off x="777240" y="2774555"/>
            <a:ext cx="6126480" cy="3579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2500">
                <a:solidFill>
                  <a:srgbClr val="14142B"/>
                </a:solidFill>
              </a:defRPr>
            </a:pPr>
            <a:r>
              <a:t>3rd Edition</a:t>
            </a:r>
            <a:r>
              <a:rPr b="0" sz="2000">
                <a:solidFill>
                  <a:srgbClr val="63637E"/>
                </a:solidFill>
                <a:latin typeface="Calibri"/>
                <a:ea typeface="Calibri"/>
                <a:cs typeface="Calibri"/>
                <a:sym typeface="Calibri"/>
              </a:rPr>
              <a:t>   2026 – 27</a:t>
            </a:r>
          </a:p>
        </p:txBody>
      </p:sp>
      <p:sp>
        <p:nvSpPr>
          <p:cNvPr id="127" name="Google Shape;95;p1"/>
          <p:cNvSpPr txBox="1"/>
          <p:nvPr/>
        </p:nvSpPr>
        <p:spPr>
          <a:xfrm>
            <a:off x="756273" y="3272254"/>
            <a:ext cx="6775973" cy="335744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77799" indent="-177799">
              <a:buClr>
                <a:srgbClr val="63637E"/>
              </a:buClr>
              <a:buSzPts val="2100"/>
              <a:buFont typeface="Calibri"/>
              <a:buChar char="•"/>
              <a:defRPr sz="2100">
                <a:solidFill>
                  <a:srgbClr val="63637E"/>
                </a:solidFill>
                <a:latin typeface="Calibri"/>
                <a:ea typeface="Calibri"/>
                <a:cs typeface="Calibri"/>
                <a:sym typeface="Calibri"/>
              </a:defRPr>
            </a:pPr>
            <a:r>
              <a:t>Theme ID - Theme 05 – Full-Duplex Voice Agents</a:t>
            </a:r>
          </a:p>
          <a:p>
            <a:pPr marL="177799" indent="-177799">
              <a:spcBef>
                <a:spcPts val="500"/>
              </a:spcBef>
              <a:buClr>
                <a:srgbClr val="63637E"/>
              </a:buClr>
              <a:buSzPts val="2100"/>
              <a:buFont typeface="Calibri"/>
              <a:buChar char="•"/>
              <a:defRPr sz="2100">
                <a:solidFill>
                  <a:srgbClr val="63637E"/>
                </a:solidFill>
                <a:latin typeface="Calibri"/>
                <a:ea typeface="Calibri"/>
                <a:cs typeface="Calibri"/>
                <a:sym typeface="Calibri"/>
              </a:defRPr>
            </a:pPr>
            <a:r>
              <a:t>Team Name - REACTOR</a:t>
            </a:r>
          </a:p>
          <a:p>
            <a:pPr lvl="1" marL="177799" indent="-177799">
              <a:spcBef>
                <a:spcPts val="500"/>
              </a:spcBef>
              <a:buClr>
                <a:srgbClr val="63637E"/>
              </a:buClr>
              <a:buSzPts val="2100"/>
              <a:buFont typeface="Calibri"/>
              <a:buChar char="•"/>
              <a:defRPr sz="2100">
                <a:solidFill>
                  <a:srgbClr val="63637E"/>
                </a:solidFill>
                <a:latin typeface="Calibri"/>
                <a:ea typeface="Calibri"/>
                <a:cs typeface="Calibri"/>
                <a:sym typeface="Calibri"/>
              </a:defRPr>
            </a:pPr>
            <a:r>
              <a:t>College Name - Vellore Institute of Technology, Vellore</a:t>
            </a:r>
          </a:p>
          <a:p>
            <a:pPr lvl="1" marL="177799" indent="-177799">
              <a:spcBef>
                <a:spcPts val="500"/>
              </a:spcBef>
              <a:buClr>
                <a:srgbClr val="63637E"/>
              </a:buClr>
              <a:buSzPts val="2100"/>
              <a:buFont typeface="Calibri"/>
              <a:buChar char="•"/>
              <a:defRPr sz="2100">
                <a:solidFill>
                  <a:srgbClr val="63637E"/>
                </a:solidFill>
                <a:latin typeface="Calibri"/>
                <a:ea typeface="Calibri"/>
                <a:cs typeface="Calibri"/>
                <a:sym typeface="Calibri"/>
              </a:defRPr>
            </a:pPr>
            <a:r>
              <a:t>Members: Atharva Mendhulkar | </a:t>
            </a:r>
            <a:r>
              <a:rPr u="sng">
                <a:solidFill>
                  <a:srgbClr val="0563C1"/>
                </a:solidFill>
                <a:uFill>
                  <a:solidFill>
                    <a:srgbClr val="0563C1"/>
                  </a:solidFill>
                </a:uFill>
                <a:hlinkClick r:id="rId3" invalidUrl="" action="" tgtFrame="" tooltip="" history="1" highlightClick="0" endSnd="0"/>
              </a:rPr>
              <a:t>atharvamendhulkar01@gmail.com</a:t>
            </a:r>
          </a:p>
          <a:p>
            <a:pPr lvl="1" marL="177799" indent="-177799">
              <a:spcBef>
                <a:spcPts val="500"/>
              </a:spcBef>
              <a:buClr>
                <a:srgbClr val="63637E"/>
              </a:buClr>
              <a:buSzPts val="2100"/>
              <a:buFont typeface="Calibri"/>
              <a:buChar char="•"/>
              <a:defRPr sz="2100">
                <a:solidFill>
                  <a:srgbClr val="63637E"/>
                </a:solidFill>
                <a:latin typeface="Calibri"/>
                <a:ea typeface="Calibri"/>
                <a:cs typeface="Calibri"/>
                <a:sym typeface="Calibri"/>
              </a:defRPr>
            </a:pPr>
            <a:r>
              <a:t>Khushvendra Singh | </a:t>
            </a:r>
            <a:r>
              <a:rPr u="sng">
                <a:solidFill>
                  <a:srgbClr val="0563C1"/>
                </a:solidFill>
                <a:uFill>
                  <a:solidFill>
                    <a:srgbClr val="0563C1"/>
                  </a:solidFill>
                </a:uFill>
                <a:hlinkClick r:id="rId4" invalidUrl="" action="" tgtFrame="" tooltip="" history="1" highlightClick="0" endSnd="0"/>
              </a:rPr>
              <a:t>0xkhush@gmail.com</a:t>
            </a:r>
          </a:p>
          <a:p>
            <a:pPr lvl="1" marL="177799" indent="-177799">
              <a:spcBef>
                <a:spcPts val="500"/>
              </a:spcBef>
              <a:buClr>
                <a:srgbClr val="63637E"/>
              </a:buClr>
              <a:buSzPts val="2100"/>
              <a:buFont typeface="Calibri"/>
              <a:buChar char="•"/>
              <a:defRPr sz="2100">
                <a:solidFill>
                  <a:srgbClr val="63637E"/>
                </a:solidFill>
                <a:latin typeface="Calibri"/>
                <a:ea typeface="Calibri"/>
                <a:cs typeface="Calibri"/>
                <a:sym typeface="Calibri"/>
              </a:defRPr>
            </a:pPr>
            <a:r>
              <a:t>Ritwij Tripathi | </a:t>
            </a:r>
            <a:r>
              <a:rPr u="sng">
                <a:solidFill>
                  <a:srgbClr val="0563C1"/>
                </a:solidFill>
                <a:uFill>
                  <a:solidFill>
                    <a:srgbClr val="0563C1"/>
                  </a:solidFill>
                </a:uFill>
                <a:hlinkClick r:id="rId5" invalidUrl="" action="" tgtFrame="" tooltip="" history="1" highlightClick="0" endSnd="0"/>
              </a:rPr>
              <a:t>vasutr2007@gmail.com</a:t>
            </a:r>
          </a:p>
          <a:p>
            <a:pPr lvl="1" marL="177799" indent="-177799">
              <a:spcBef>
                <a:spcPts val="500"/>
              </a:spcBef>
              <a:buClr>
                <a:srgbClr val="63637E"/>
              </a:buClr>
              <a:buSzPts val="2100"/>
              <a:buFont typeface="Calibri"/>
              <a:buChar char="•"/>
              <a:defRPr sz="2100">
                <a:solidFill>
                  <a:srgbClr val="63637E"/>
                </a:solidFill>
                <a:latin typeface="Calibri"/>
                <a:ea typeface="Calibri"/>
                <a:cs typeface="Calibri"/>
                <a:sym typeface="Calibri"/>
              </a:defRPr>
            </a:pPr>
          </a:p>
          <a:p>
            <a:pPr marL="177799" indent="-177799">
              <a:spcBef>
                <a:spcPts val="500"/>
              </a:spcBef>
              <a:buClr>
                <a:srgbClr val="63637E"/>
              </a:buClr>
              <a:buSzPts val="2100"/>
              <a:buFont typeface="Calibri"/>
              <a:buChar char="•"/>
              <a:defRPr sz="2100">
                <a:solidFill>
                  <a:srgbClr val="63637E"/>
                </a:solidFill>
                <a:latin typeface="Calibri"/>
                <a:ea typeface="Calibri"/>
                <a:cs typeface="Calibri"/>
                <a:sym typeface="Calibri"/>
              </a:defRPr>
            </a:pPr>
            <a:r>
              <a:t>Submission Github link - github.com/0xkhush/REACTOR</a:t>
            </a:r>
          </a:p>
        </p:txBody>
      </p:sp>
      <p:pic>
        <p:nvPicPr>
          <p:cNvPr id="128" name="Google Shape;96;p1" descr="Google Shape;96;p1"/>
          <p:cNvPicPr>
            <a:picLocks noChangeAspect="1"/>
          </p:cNvPicPr>
          <p:nvPr/>
        </p:nvPicPr>
        <p:blipFill>
          <a:blip r:embed="rId6">
            <a:extLst/>
          </a:blip>
          <a:stretch>
            <a:fillRect/>
          </a:stretch>
        </p:blipFill>
        <p:spPr>
          <a:xfrm>
            <a:off x="7102453" y="950561"/>
            <a:ext cx="4572001" cy="4572001"/>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2" name="Google Shape;101;p2"/>
          <p:cNvSpPr txBox="1"/>
          <p:nvPr>
            <p:ph type="title"/>
          </p:nvPr>
        </p:nvSpPr>
        <p:spPr>
          <a:xfrm>
            <a:off x="640080" y="566927"/>
            <a:ext cx="10881360" cy="777241"/>
          </a:xfrm>
          <a:prstGeom prst="rect">
            <a:avLst/>
          </a:prstGeom>
        </p:spPr>
        <p:txBody>
          <a:bodyPr/>
          <a:lstStyle>
            <a:lvl1pPr>
              <a:defRPr b="1" sz="3200">
                <a:solidFill>
                  <a:srgbClr val="704EA6"/>
                </a:solidFill>
              </a:defRPr>
            </a:lvl1pPr>
          </a:lstStyle>
          <a:p>
            <a:pPr/>
            <a:r>
              <a:t>People change their minds mid-sentence</a:t>
            </a:r>
          </a:p>
        </p:txBody>
      </p:sp>
      <p:sp>
        <p:nvSpPr>
          <p:cNvPr id="133" name="TextBox 101"/>
          <p:cNvSpPr txBox="1"/>
          <p:nvPr/>
        </p:nvSpPr>
        <p:spPr>
          <a:xfrm>
            <a:off x="658368" y="320040"/>
            <a:ext cx="7278625" cy="189132"/>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b="1" sz="1100">
                <a:solidFill>
                  <a:srgbClr val="14A38B"/>
                </a:solidFill>
                <a:latin typeface="Calibri"/>
                <a:ea typeface="Calibri"/>
                <a:cs typeface="Calibri"/>
                <a:sym typeface="Calibri"/>
              </a:defRPr>
            </a:lvl1pPr>
          </a:lstStyle>
          <a:p>
            <a:pPr/>
            <a:r>
              <a:t>THEME 05 · FULL-DUPLEX VOICE AGENTS</a:t>
            </a:r>
          </a:p>
        </p:txBody>
      </p:sp>
      <p:grpSp>
        <p:nvGrpSpPr>
          <p:cNvPr id="136" name="Rounded Rectangle 102"/>
          <p:cNvGrpSpPr/>
          <p:nvPr/>
        </p:nvGrpSpPr>
        <p:grpSpPr>
          <a:xfrm>
            <a:off x="640080" y="1554480"/>
            <a:ext cx="10881360" cy="1143001"/>
            <a:chOff x="0" y="0"/>
            <a:chExt cx="10881359" cy="1143000"/>
          </a:xfrm>
        </p:grpSpPr>
        <p:sp>
          <p:nvSpPr>
            <p:cNvPr id="134" name="Rounded Rectangle"/>
            <p:cNvSpPr/>
            <p:nvPr/>
          </p:nvSpPr>
          <p:spPr>
            <a:xfrm>
              <a:off x="0" y="0"/>
              <a:ext cx="10881360" cy="1143000"/>
            </a:xfrm>
            <a:prstGeom prst="roundRect">
              <a:avLst>
                <a:gd name="adj" fmla="val 8000"/>
              </a:avLst>
            </a:prstGeom>
            <a:solidFill>
              <a:srgbClr val="EFE9F8"/>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35" name="“Book a flight to Mumbai on Friday… wait, actually make that Delhi!”"/>
            <p:cNvSpPr txBox="1"/>
            <p:nvPr/>
          </p:nvSpPr>
          <p:spPr>
            <a:xfrm>
              <a:off x="90789" y="321689"/>
              <a:ext cx="10699782" cy="4996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i="1" sz="2800">
                  <a:solidFill>
                    <a:srgbClr val="704EA6"/>
                  </a:solidFill>
                  <a:latin typeface="Calibri"/>
                  <a:ea typeface="Calibri"/>
                  <a:cs typeface="Calibri"/>
                  <a:sym typeface="Calibri"/>
                </a:defRPr>
              </a:lvl1pPr>
            </a:lstStyle>
            <a:p>
              <a:pPr/>
              <a:r>
                <a:t>“Book a flight to Mumbai on Friday… wait, actually make that Delhi!”</a:t>
              </a:r>
            </a:p>
          </p:txBody>
        </p:sp>
      </p:grpSp>
      <p:grpSp>
        <p:nvGrpSpPr>
          <p:cNvPr id="139" name="Rounded Rectangle 103"/>
          <p:cNvGrpSpPr/>
          <p:nvPr/>
        </p:nvGrpSpPr>
        <p:grpSpPr>
          <a:xfrm>
            <a:off x="640080" y="3108960"/>
            <a:ext cx="3520441" cy="777241"/>
            <a:chOff x="0" y="0"/>
            <a:chExt cx="3520440" cy="777240"/>
          </a:xfrm>
        </p:grpSpPr>
        <p:sp>
          <p:nvSpPr>
            <p:cNvPr id="137" name="Rounded Rectangle"/>
            <p:cNvSpPr/>
            <p:nvPr/>
          </p:nvSpPr>
          <p:spPr>
            <a:xfrm>
              <a:off x="0" y="0"/>
              <a:ext cx="3520441" cy="777241"/>
            </a:xfrm>
            <a:prstGeom prst="roundRect">
              <a:avLst>
                <a:gd name="adj" fmla="val 8000"/>
              </a:avLst>
            </a:prstGeom>
            <a:solidFill>
              <a:srgbClr val="704EA6"/>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38" name="Book a flight to Mumbai on Friday"/>
            <p:cNvSpPr txBox="1"/>
            <p:nvPr/>
          </p:nvSpPr>
          <p:spPr>
            <a:xfrm>
              <a:off x="82219" y="205942"/>
              <a:ext cx="3356002" cy="3653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700">
                  <a:solidFill>
                    <a:srgbClr val="FFFFFF"/>
                  </a:solidFill>
                  <a:latin typeface="Calibri"/>
                  <a:ea typeface="Calibri"/>
                  <a:cs typeface="Calibri"/>
                  <a:sym typeface="Calibri"/>
                </a:defRPr>
              </a:lvl1pPr>
            </a:lstStyle>
            <a:p>
              <a:pPr/>
              <a:r>
                <a:t>Book a flight to Mumbai on Friday</a:t>
              </a:r>
            </a:p>
          </p:txBody>
        </p:sp>
      </p:grpSp>
      <p:sp>
        <p:nvSpPr>
          <p:cNvPr id="140" name="TextBox 104"/>
          <p:cNvSpPr txBox="1"/>
          <p:nvPr/>
        </p:nvSpPr>
        <p:spPr>
          <a:xfrm>
            <a:off x="658367" y="3931920"/>
            <a:ext cx="3483866" cy="221626"/>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lgn="ctr">
              <a:defRPr sz="1300">
                <a:solidFill>
                  <a:srgbClr val="5F5A6B"/>
                </a:solidFill>
                <a:latin typeface="Calibri"/>
                <a:ea typeface="Calibri"/>
                <a:cs typeface="Calibri"/>
                <a:sym typeface="Calibri"/>
              </a:defRPr>
            </a:lvl1pPr>
          </a:lstStyle>
          <a:p>
            <a:pPr/>
            <a:r>
              <a:t>Request 1 · Revision 1</a:t>
            </a:r>
          </a:p>
        </p:txBody>
      </p:sp>
      <p:grpSp>
        <p:nvGrpSpPr>
          <p:cNvPr id="143" name="Rounded Rectangle 105"/>
          <p:cNvGrpSpPr/>
          <p:nvPr/>
        </p:nvGrpSpPr>
        <p:grpSpPr>
          <a:xfrm>
            <a:off x="4343400" y="3108960"/>
            <a:ext cx="2880361" cy="777241"/>
            <a:chOff x="0" y="0"/>
            <a:chExt cx="2880360" cy="777240"/>
          </a:xfrm>
        </p:grpSpPr>
        <p:sp>
          <p:nvSpPr>
            <p:cNvPr id="141" name="Rounded Rectangle"/>
            <p:cNvSpPr/>
            <p:nvPr/>
          </p:nvSpPr>
          <p:spPr>
            <a:xfrm>
              <a:off x="0" y="0"/>
              <a:ext cx="2880361" cy="777241"/>
            </a:xfrm>
            <a:prstGeom prst="roundRect">
              <a:avLst>
                <a:gd name="adj" fmla="val 8000"/>
              </a:avLst>
            </a:prstGeom>
            <a:solidFill>
              <a:srgbClr val="E8A33D"/>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42" name="…wait, actually…"/>
            <p:cNvSpPr txBox="1"/>
            <p:nvPr/>
          </p:nvSpPr>
          <p:spPr>
            <a:xfrm>
              <a:off x="82219" y="205942"/>
              <a:ext cx="2715922" cy="3653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700">
                  <a:solidFill>
                    <a:srgbClr val="FFFFFF"/>
                  </a:solidFill>
                  <a:latin typeface="Calibri"/>
                  <a:ea typeface="Calibri"/>
                  <a:cs typeface="Calibri"/>
                  <a:sym typeface="Calibri"/>
                </a:defRPr>
              </a:lvl1pPr>
            </a:lstStyle>
            <a:p>
              <a:pPr/>
              <a:r>
                <a:t>…wait, actually…</a:t>
              </a:r>
            </a:p>
          </p:txBody>
        </p:sp>
      </p:grpSp>
      <p:sp>
        <p:nvSpPr>
          <p:cNvPr id="144" name="TextBox 106"/>
          <p:cNvSpPr txBox="1"/>
          <p:nvPr/>
        </p:nvSpPr>
        <p:spPr>
          <a:xfrm>
            <a:off x="4361687" y="3931920"/>
            <a:ext cx="2843786" cy="221626"/>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lgn="ctr">
              <a:defRPr sz="1300">
                <a:solidFill>
                  <a:srgbClr val="5F5A6B"/>
                </a:solidFill>
                <a:latin typeface="Calibri"/>
                <a:ea typeface="Calibri"/>
                <a:cs typeface="Calibri"/>
                <a:sym typeface="Calibri"/>
              </a:defRPr>
            </a:lvl1pPr>
          </a:lstStyle>
          <a:p>
            <a:pPr/>
            <a:r>
              <a:t>A correction signal</a:t>
            </a:r>
          </a:p>
        </p:txBody>
      </p:sp>
      <p:grpSp>
        <p:nvGrpSpPr>
          <p:cNvPr id="147" name="Rounded Rectangle 107"/>
          <p:cNvGrpSpPr/>
          <p:nvPr/>
        </p:nvGrpSpPr>
        <p:grpSpPr>
          <a:xfrm>
            <a:off x="7406640" y="3108960"/>
            <a:ext cx="4114801" cy="777241"/>
            <a:chOff x="0" y="0"/>
            <a:chExt cx="4114800" cy="777240"/>
          </a:xfrm>
        </p:grpSpPr>
        <p:sp>
          <p:nvSpPr>
            <p:cNvPr id="145" name="Rounded Rectangle"/>
            <p:cNvSpPr/>
            <p:nvPr/>
          </p:nvSpPr>
          <p:spPr>
            <a:xfrm>
              <a:off x="0" y="0"/>
              <a:ext cx="4114800" cy="777241"/>
            </a:xfrm>
            <a:prstGeom prst="roundRect">
              <a:avLst>
                <a:gd name="adj" fmla="val 8000"/>
              </a:avLst>
            </a:prstGeom>
            <a:solidFill>
              <a:srgbClr val="14A38B"/>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46" name="make that Delhi"/>
            <p:cNvSpPr txBox="1"/>
            <p:nvPr/>
          </p:nvSpPr>
          <p:spPr>
            <a:xfrm>
              <a:off x="82220" y="205942"/>
              <a:ext cx="3950360" cy="3653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700">
                  <a:solidFill>
                    <a:srgbClr val="FFFFFF"/>
                  </a:solidFill>
                  <a:latin typeface="Calibri"/>
                  <a:ea typeface="Calibri"/>
                  <a:cs typeface="Calibri"/>
                  <a:sym typeface="Calibri"/>
                </a:defRPr>
              </a:lvl1pPr>
            </a:lstStyle>
            <a:p>
              <a:pPr/>
              <a:r>
                <a:t>make that Delhi</a:t>
              </a:r>
            </a:p>
          </p:txBody>
        </p:sp>
      </p:grpSp>
      <p:sp>
        <p:nvSpPr>
          <p:cNvPr id="148" name="TextBox 108"/>
          <p:cNvSpPr txBox="1"/>
          <p:nvPr/>
        </p:nvSpPr>
        <p:spPr>
          <a:xfrm>
            <a:off x="7424928" y="3931920"/>
            <a:ext cx="4078225" cy="221626"/>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lgn="ctr">
              <a:defRPr sz="1300">
                <a:solidFill>
                  <a:srgbClr val="5F5A6B"/>
                </a:solidFill>
                <a:latin typeface="Calibri"/>
                <a:ea typeface="Calibri"/>
                <a:cs typeface="Calibri"/>
                <a:sym typeface="Calibri"/>
              </a:defRPr>
            </a:lvl1pPr>
          </a:lstStyle>
          <a:p>
            <a:pPr/>
            <a:r>
              <a:t>Request 1 · Revision 2 replaces Mumbai</a:t>
            </a:r>
          </a:p>
        </p:txBody>
      </p:sp>
      <p:sp>
        <p:nvSpPr>
          <p:cNvPr id="149" name="TextBox 109"/>
          <p:cNvSpPr txBox="1"/>
          <p:nvPr/>
        </p:nvSpPr>
        <p:spPr>
          <a:xfrm>
            <a:off x="658368" y="2788920"/>
            <a:ext cx="3621025" cy="191935"/>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b="1" sz="1000">
                <a:solidFill>
                  <a:srgbClr val="5F5A6B"/>
                </a:solidFill>
                <a:latin typeface="Calibri"/>
                <a:ea typeface="Calibri"/>
                <a:cs typeface="Calibri"/>
                <a:sym typeface="Calibri"/>
              </a:defRPr>
            </a:lvl1pPr>
          </a:lstStyle>
          <a:p>
            <a:pPr/>
            <a:r>
              <a:t>WHAT THE USER SAYS, IN ONE BREATH</a:t>
            </a:r>
          </a:p>
        </p:txBody>
      </p:sp>
      <p:grpSp>
        <p:nvGrpSpPr>
          <p:cNvPr id="152" name="Rounded Rectangle 110"/>
          <p:cNvGrpSpPr/>
          <p:nvPr/>
        </p:nvGrpSpPr>
        <p:grpSpPr>
          <a:xfrm>
            <a:off x="640080" y="4617720"/>
            <a:ext cx="5303521" cy="1508761"/>
            <a:chOff x="0" y="0"/>
            <a:chExt cx="5303520" cy="1508760"/>
          </a:xfrm>
        </p:grpSpPr>
        <p:sp>
          <p:nvSpPr>
            <p:cNvPr id="150" name="Rounded Rectangle"/>
            <p:cNvSpPr/>
            <p:nvPr/>
          </p:nvSpPr>
          <p:spPr>
            <a:xfrm>
              <a:off x="0" y="0"/>
              <a:ext cx="5303521" cy="1508761"/>
            </a:xfrm>
            <a:prstGeom prst="roundRect">
              <a:avLst>
                <a:gd name="adj" fmla="val 8000"/>
              </a:avLst>
            </a:prstGeom>
            <a:solidFill>
              <a:srgbClr val="FFFFFF"/>
            </a:solidFill>
            <a:ln w="15875" cap="flat">
              <a:solidFill>
                <a:srgbClr val="704EA6"/>
              </a:solidFill>
              <a:prstDash val="solid"/>
              <a:round/>
            </a:ln>
            <a:effectLst/>
          </p:spPr>
          <p:txBody>
            <a:bodyPr wrap="square" lIns="0" tIns="0" rIns="0" bIns="0" numCol="1" anchor="ctr">
              <a:noAutofit/>
            </a:bodyPr>
            <a:lstStyle/>
            <a:p>
              <a:pPr>
                <a:defRPr>
                  <a:solidFill>
                    <a:srgbClr val="FFFFFF"/>
                  </a:solidFill>
                </a:defRPr>
              </a:pPr>
            </a:p>
          </p:txBody>
        </p:sp>
        <p:sp>
          <p:nvSpPr>
            <p:cNvPr id="151" name="The theme…"/>
            <p:cNvSpPr txBox="1"/>
            <p:nvPr/>
          </p:nvSpPr>
          <p:spPr>
            <a:xfrm>
              <a:off x="107297" y="340299"/>
              <a:ext cx="5088926" cy="8281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p>
              <a:pPr>
                <a:spcBef>
                  <a:spcPts val="300"/>
                </a:spcBef>
                <a:defRPr b="1" sz="1500">
                  <a:solidFill>
                    <a:srgbClr val="704EA6"/>
                  </a:solidFill>
                  <a:latin typeface="Calibri"/>
                  <a:ea typeface="Calibri"/>
                  <a:cs typeface="Calibri"/>
                  <a:sym typeface="Calibri"/>
                </a:defRPr>
              </a:pPr>
              <a:r>
                <a:t>The theme</a:t>
              </a:r>
              <a:endParaRPr>
                <a:solidFill>
                  <a:srgbClr val="FFFFFF"/>
                </a:solidFill>
              </a:endParaRPr>
            </a:p>
            <a:p>
              <a:pPr>
                <a:defRPr sz="1500">
                  <a:solidFill>
                    <a:srgbClr val="1E1433"/>
                  </a:solidFill>
                  <a:latin typeface="Calibri"/>
                  <a:ea typeface="Calibri"/>
                  <a:cs typeface="Calibri"/>
                  <a:sym typeface="Calibri"/>
                </a:defRPr>
              </a:pPr>
              <a:r>
                <a:t>A voice agent that talks, listens and can be cut off, all at the same time.</a:t>
              </a:r>
            </a:p>
          </p:txBody>
        </p:sp>
      </p:grpSp>
      <p:grpSp>
        <p:nvGrpSpPr>
          <p:cNvPr id="155" name="Rounded Rectangle 111"/>
          <p:cNvGrpSpPr/>
          <p:nvPr/>
        </p:nvGrpSpPr>
        <p:grpSpPr>
          <a:xfrm>
            <a:off x="6217920" y="4617720"/>
            <a:ext cx="5303521" cy="1508761"/>
            <a:chOff x="0" y="0"/>
            <a:chExt cx="5303520" cy="1508760"/>
          </a:xfrm>
        </p:grpSpPr>
        <p:sp>
          <p:nvSpPr>
            <p:cNvPr id="153" name="Rounded Rectangle"/>
            <p:cNvSpPr/>
            <p:nvPr/>
          </p:nvSpPr>
          <p:spPr>
            <a:xfrm>
              <a:off x="0" y="0"/>
              <a:ext cx="5303521" cy="1508761"/>
            </a:xfrm>
            <a:prstGeom prst="roundRect">
              <a:avLst>
                <a:gd name="adj" fmla="val 8000"/>
              </a:avLst>
            </a:prstGeom>
            <a:solidFill>
              <a:srgbClr val="FFFFFF"/>
            </a:solidFill>
            <a:ln w="15875" cap="flat">
              <a:solidFill>
                <a:srgbClr val="704EA6"/>
              </a:solidFill>
              <a:prstDash val="solid"/>
              <a:round/>
            </a:ln>
            <a:effectLst/>
          </p:spPr>
          <p:txBody>
            <a:bodyPr wrap="square" lIns="0" tIns="0" rIns="0" bIns="0" numCol="1" anchor="ctr">
              <a:noAutofit/>
            </a:bodyPr>
            <a:lstStyle/>
            <a:p>
              <a:pPr>
                <a:defRPr>
                  <a:solidFill>
                    <a:srgbClr val="FFFFFF"/>
                  </a:solidFill>
                </a:defRPr>
              </a:pPr>
            </a:p>
          </p:txBody>
        </p:sp>
        <p:sp>
          <p:nvSpPr>
            <p:cNvPr id="154" name="Our question…"/>
            <p:cNvSpPr txBox="1"/>
            <p:nvPr/>
          </p:nvSpPr>
          <p:spPr>
            <a:xfrm>
              <a:off x="107297" y="340299"/>
              <a:ext cx="5088926" cy="8281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p>
              <a:pPr>
                <a:spcBef>
                  <a:spcPts val="300"/>
                </a:spcBef>
                <a:defRPr b="1" sz="1500">
                  <a:solidFill>
                    <a:srgbClr val="704EA6"/>
                  </a:solidFill>
                  <a:latin typeface="Calibri"/>
                  <a:ea typeface="Calibri"/>
                  <a:cs typeface="Calibri"/>
                  <a:sym typeface="Calibri"/>
                </a:defRPr>
              </a:pPr>
              <a:r>
                <a:t>Our question</a:t>
              </a:r>
              <a:endParaRPr>
                <a:solidFill>
                  <a:srgbClr val="FFFFFF"/>
                </a:solidFill>
              </a:endParaRPr>
            </a:p>
            <a:p>
              <a:pPr>
                <a:defRPr sz="1500">
                  <a:solidFill>
                    <a:srgbClr val="1E1433"/>
                  </a:solidFill>
                  <a:latin typeface="Calibri"/>
                  <a:ea typeface="Calibri"/>
                  <a:cs typeface="Calibri"/>
                  <a:sym typeface="Calibri"/>
                </a:defRPr>
              </a:pPr>
              <a:r>
                <a:t>When someone changes their mind halfway, what should the agent actually do with the tool it was about to call?</a:t>
              </a:r>
            </a:p>
          </p:txBody>
        </p:sp>
      </p:gr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Google Shape;107;p3"/>
          <p:cNvSpPr txBox="1"/>
          <p:nvPr>
            <p:ph type="title"/>
          </p:nvPr>
        </p:nvSpPr>
        <p:spPr>
          <a:xfrm>
            <a:off x="640080" y="566927"/>
            <a:ext cx="10881360" cy="777241"/>
          </a:xfrm>
          <a:prstGeom prst="rect">
            <a:avLst/>
          </a:prstGeom>
        </p:spPr>
        <p:txBody>
          <a:bodyPr/>
          <a:lstStyle>
            <a:lvl1pPr>
              <a:defRPr b="1" sz="3200">
                <a:solidFill>
                  <a:srgbClr val="704EA6"/>
                </a:solidFill>
              </a:defRPr>
            </a:lvl1pPr>
          </a:lstStyle>
          <a:p>
            <a:pPr/>
            <a:r>
              <a:t>Agents hear the fix, then run the old request</a:t>
            </a:r>
          </a:p>
        </p:txBody>
      </p:sp>
      <p:sp>
        <p:nvSpPr>
          <p:cNvPr id="160" name="TextBox 107"/>
          <p:cNvSpPr txBox="1"/>
          <p:nvPr/>
        </p:nvSpPr>
        <p:spPr>
          <a:xfrm>
            <a:off x="658368" y="320040"/>
            <a:ext cx="7278625" cy="189132"/>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b="1" sz="1100">
                <a:solidFill>
                  <a:srgbClr val="14A38B"/>
                </a:solidFill>
                <a:latin typeface="Calibri"/>
                <a:ea typeface="Calibri"/>
                <a:cs typeface="Calibri"/>
                <a:sym typeface="Calibri"/>
              </a:defRPr>
            </a:lvl1pPr>
          </a:lstStyle>
          <a:p>
            <a:pPr/>
            <a:r>
              <a:t>EXISTING SOLUTIONS &amp; GAPS</a:t>
            </a:r>
          </a:p>
        </p:txBody>
      </p:sp>
      <p:sp>
        <p:nvSpPr>
          <p:cNvPr id="161" name="Rounded Rectangle 108"/>
          <p:cNvSpPr/>
          <p:nvPr/>
        </p:nvSpPr>
        <p:spPr>
          <a:xfrm>
            <a:off x="640080" y="1645920"/>
            <a:ext cx="3429001" cy="2057401"/>
          </a:xfrm>
          <a:prstGeom prst="roundRect">
            <a:avLst>
              <a:gd name="adj" fmla="val 8000"/>
            </a:avLst>
          </a:prstGeom>
          <a:solidFill>
            <a:srgbClr val="EFE9F8"/>
          </a:solidFill>
          <a:ln w="12700">
            <a:miter lim="400000"/>
          </a:ln>
        </p:spPr>
        <p:txBody>
          <a:bodyPr lIns="0" tIns="0" rIns="0" bIns="0" anchor="ctr"/>
          <a:lstStyle/>
          <a:p>
            <a:pPr algn="ctr">
              <a:defRPr>
                <a:solidFill>
                  <a:srgbClr val="FFFFFF"/>
                </a:solidFill>
              </a:defRPr>
            </a:pPr>
          </a:p>
        </p:txBody>
      </p:sp>
      <p:grpSp>
        <p:nvGrpSpPr>
          <p:cNvPr id="164" name="Oval 109"/>
          <p:cNvGrpSpPr/>
          <p:nvPr/>
        </p:nvGrpSpPr>
        <p:grpSpPr>
          <a:xfrm>
            <a:off x="822958" y="1828800"/>
            <a:ext cx="457201" cy="457200"/>
            <a:chOff x="0" y="0"/>
            <a:chExt cx="457200" cy="457200"/>
          </a:xfrm>
        </p:grpSpPr>
        <p:sp>
          <p:nvSpPr>
            <p:cNvPr id="162" name="Circle"/>
            <p:cNvSpPr/>
            <p:nvPr/>
          </p:nvSpPr>
          <p:spPr>
            <a:xfrm>
              <a:off x="0" y="0"/>
              <a:ext cx="457200" cy="457200"/>
            </a:xfrm>
            <a:prstGeom prst="ellipse">
              <a:avLst/>
            </a:prstGeom>
            <a:solidFill>
              <a:srgbClr val="D64550"/>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63" name="1"/>
            <p:cNvSpPr txBox="1"/>
            <p:nvPr/>
          </p:nvSpPr>
          <p:spPr>
            <a:xfrm>
              <a:off x="66954" y="107776"/>
              <a:ext cx="323292" cy="241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800">
                  <a:solidFill>
                    <a:srgbClr val="FFFFFF"/>
                  </a:solidFill>
                  <a:latin typeface="Calibri"/>
                  <a:ea typeface="Calibri"/>
                  <a:cs typeface="Calibri"/>
                  <a:sym typeface="Calibri"/>
                </a:defRPr>
              </a:lvl1pPr>
            </a:lstStyle>
            <a:p>
              <a:pPr/>
              <a:r>
                <a:t>1</a:t>
              </a:r>
            </a:p>
          </p:txBody>
        </p:sp>
      </p:grpSp>
      <p:sp>
        <p:nvSpPr>
          <p:cNvPr id="165" name="TextBox 110"/>
          <p:cNvSpPr txBox="1"/>
          <p:nvPr/>
        </p:nvSpPr>
        <p:spPr>
          <a:xfrm>
            <a:off x="841246" y="2423160"/>
            <a:ext cx="3072385" cy="293709"/>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b="1" sz="1900">
                <a:solidFill>
                  <a:srgbClr val="1E1433"/>
                </a:solidFill>
                <a:latin typeface="Calibri"/>
                <a:ea typeface="Calibri"/>
                <a:cs typeface="Calibri"/>
                <a:sym typeface="Calibri"/>
              </a:defRPr>
            </a:lvl1pPr>
          </a:lstStyle>
          <a:p>
            <a:pPr/>
            <a:r>
              <a:t>Double booking</a:t>
            </a:r>
          </a:p>
        </p:txBody>
      </p:sp>
      <p:sp>
        <p:nvSpPr>
          <p:cNvPr id="166" name="TextBox 111"/>
          <p:cNvSpPr txBox="1"/>
          <p:nvPr/>
        </p:nvSpPr>
        <p:spPr>
          <a:xfrm>
            <a:off x="841246" y="2834639"/>
            <a:ext cx="3072385" cy="472824"/>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a:solidFill>
                  <a:srgbClr val="5F5A6B"/>
                </a:solidFill>
                <a:latin typeface="Calibri"/>
                <a:ea typeface="Calibri"/>
                <a:cs typeface="Calibri"/>
                <a:sym typeface="Calibri"/>
              </a:defRPr>
            </a:lvl1pPr>
          </a:lstStyle>
          <a:p>
            <a:pPr/>
            <a:r>
              <a:t>Mumbai and Delhi both get booked, because both proposals run.</a:t>
            </a:r>
          </a:p>
        </p:txBody>
      </p:sp>
      <p:sp>
        <p:nvSpPr>
          <p:cNvPr id="167" name="Rounded Rectangle 112"/>
          <p:cNvSpPr/>
          <p:nvPr/>
        </p:nvSpPr>
        <p:spPr>
          <a:xfrm>
            <a:off x="4251959" y="1645920"/>
            <a:ext cx="3429001" cy="2057401"/>
          </a:xfrm>
          <a:prstGeom prst="roundRect">
            <a:avLst>
              <a:gd name="adj" fmla="val 8000"/>
            </a:avLst>
          </a:prstGeom>
          <a:solidFill>
            <a:srgbClr val="EFE9F8"/>
          </a:solidFill>
          <a:ln w="12700">
            <a:miter lim="400000"/>
          </a:ln>
        </p:spPr>
        <p:txBody>
          <a:bodyPr lIns="0" tIns="0" rIns="0" bIns="0" anchor="ctr"/>
          <a:lstStyle/>
          <a:p>
            <a:pPr algn="ctr">
              <a:defRPr>
                <a:solidFill>
                  <a:srgbClr val="FFFFFF"/>
                </a:solidFill>
              </a:defRPr>
            </a:pPr>
          </a:p>
        </p:txBody>
      </p:sp>
      <p:grpSp>
        <p:nvGrpSpPr>
          <p:cNvPr id="170" name="Oval 113"/>
          <p:cNvGrpSpPr/>
          <p:nvPr/>
        </p:nvGrpSpPr>
        <p:grpSpPr>
          <a:xfrm>
            <a:off x="4434840" y="1828800"/>
            <a:ext cx="457201" cy="457200"/>
            <a:chOff x="0" y="0"/>
            <a:chExt cx="457200" cy="457200"/>
          </a:xfrm>
        </p:grpSpPr>
        <p:sp>
          <p:nvSpPr>
            <p:cNvPr id="168" name="Circle"/>
            <p:cNvSpPr/>
            <p:nvPr/>
          </p:nvSpPr>
          <p:spPr>
            <a:xfrm>
              <a:off x="0" y="0"/>
              <a:ext cx="457200" cy="457200"/>
            </a:xfrm>
            <a:prstGeom prst="ellipse">
              <a:avLst/>
            </a:prstGeom>
            <a:solidFill>
              <a:srgbClr val="D64550"/>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69" name="2"/>
            <p:cNvSpPr txBox="1"/>
            <p:nvPr/>
          </p:nvSpPr>
          <p:spPr>
            <a:xfrm>
              <a:off x="66954" y="107776"/>
              <a:ext cx="323292" cy="241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800">
                  <a:solidFill>
                    <a:srgbClr val="FFFFFF"/>
                  </a:solidFill>
                  <a:latin typeface="Calibri"/>
                  <a:ea typeface="Calibri"/>
                  <a:cs typeface="Calibri"/>
                  <a:sym typeface="Calibri"/>
                </a:defRPr>
              </a:lvl1pPr>
            </a:lstStyle>
            <a:p>
              <a:pPr/>
              <a:r>
                <a:t>2</a:t>
              </a:r>
            </a:p>
          </p:txBody>
        </p:sp>
      </p:grpSp>
      <p:sp>
        <p:nvSpPr>
          <p:cNvPr id="171" name="TextBox 114"/>
          <p:cNvSpPr txBox="1"/>
          <p:nvPr/>
        </p:nvSpPr>
        <p:spPr>
          <a:xfrm>
            <a:off x="4453128" y="2423160"/>
            <a:ext cx="3072385" cy="293709"/>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b="1" sz="1900">
                <a:solidFill>
                  <a:srgbClr val="1E1433"/>
                </a:solidFill>
                <a:latin typeface="Calibri"/>
                <a:ea typeface="Calibri"/>
                <a:cs typeface="Calibri"/>
                <a:sym typeface="Calibri"/>
              </a:defRPr>
            </a:lvl1pPr>
          </a:lstStyle>
          <a:p>
            <a:pPr/>
            <a:r>
              <a:t>Stale actions</a:t>
            </a:r>
          </a:p>
        </p:txBody>
      </p:sp>
      <p:sp>
        <p:nvSpPr>
          <p:cNvPr id="172" name="TextBox 115"/>
          <p:cNvSpPr txBox="1"/>
          <p:nvPr/>
        </p:nvSpPr>
        <p:spPr>
          <a:xfrm>
            <a:off x="4453128" y="2834639"/>
            <a:ext cx="3072385" cy="472824"/>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a:solidFill>
                  <a:srgbClr val="5F5A6B"/>
                </a:solidFill>
                <a:latin typeface="Calibri"/>
                <a:ea typeface="Calibri"/>
                <a:cs typeface="Calibri"/>
                <a:sym typeface="Calibri"/>
              </a:defRPr>
            </a:lvl1pPr>
          </a:lstStyle>
          <a:p>
            <a:pPr/>
            <a:r>
              <a:t>An old tool call finishes in the background and quietly corrupts the conversation.</a:t>
            </a:r>
          </a:p>
        </p:txBody>
      </p:sp>
      <p:sp>
        <p:nvSpPr>
          <p:cNvPr id="173" name="Rounded Rectangle 116"/>
          <p:cNvSpPr/>
          <p:nvPr/>
        </p:nvSpPr>
        <p:spPr>
          <a:xfrm>
            <a:off x="640080" y="3886200"/>
            <a:ext cx="3429001" cy="2057400"/>
          </a:xfrm>
          <a:prstGeom prst="roundRect">
            <a:avLst>
              <a:gd name="adj" fmla="val 8000"/>
            </a:avLst>
          </a:prstGeom>
          <a:solidFill>
            <a:srgbClr val="EFE9F8"/>
          </a:solidFill>
          <a:ln w="12700">
            <a:miter lim="400000"/>
          </a:ln>
        </p:spPr>
        <p:txBody>
          <a:bodyPr lIns="0" tIns="0" rIns="0" bIns="0" anchor="ctr"/>
          <a:lstStyle/>
          <a:p>
            <a:pPr algn="ctr">
              <a:defRPr>
                <a:solidFill>
                  <a:srgbClr val="FFFFFF"/>
                </a:solidFill>
              </a:defRPr>
            </a:pPr>
          </a:p>
        </p:txBody>
      </p:sp>
      <p:grpSp>
        <p:nvGrpSpPr>
          <p:cNvPr id="176" name="Oval 117"/>
          <p:cNvGrpSpPr/>
          <p:nvPr/>
        </p:nvGrpSpPr>
        <p:grpSpPr>
          <a:xfrm>
            <a:off x="822958" y="4069079"/>
            <a:ext cx="457201" cy="457201"/>
            <a:chOff x="0" y="0"/>
            <a:chExt cx="457200" cy="457200"/>
          </a:xfrm>
        </p:grpSpPr>
        <p:sp>
          <p:nvSpPr>
            <p:cNvPr id="174" name="Circle"/>
            <p:cNvSpPr/>
            <p:nvPr/>
          </p:nvSpPr>
          <p:spPr>
            <a:xfrm>
              <a:off x="0" y="0"/>
              <a:ext cx="457200" cy="457200"/>
            </a:xfrm>
            <a:prstGeom prst="ellipse">
              <a:avLst/>
            </a:prstGeom>
            <a:solidFill>
              <a:srgbClr val="D64550"/>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75" name="3"/>
            <p:cNvSpPr txBox="1"/>
            <p:nvPr/>
          </p:nvSpPr>
          <p:spPr>
            <a:xfrm>
              <a:off x="66954" y="107776"/>
              <a:ext cx="323292" cy="241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800">
                  <a:solidFill>
                    <a:srgbClr val="FFFFFF"/>
                  </a:solidFill>
                  <a:latin typeface="Calibri"/>
                  <a:ea typeface="Calibri"/>
                  <a:cs typeface="Calibri"/>
                  <a:sym typeface="Calibri"/>
                </a:defRPr>
              </a:lvl1pPr>
            </a:lstStyle>
            <a:p>
              <a:pPr/>
              <a:r>
                <a:t>3</a:t>
              </a:r>
            </a:p>
          </p:txBody>
        </p:sp>
      </p:grpSp>
      <p:sp>
        <p:nvSpPr>
          <p:cNvPr id="177" name="TextBox 118"/>
          <p:cNvSpPr txBox="1"/>
          <p:nvPr/>
        </p:nvSpPr>
        <p:spPr>
          <a:xfrm>
            <a:off x="841246" y="4663440"/>
            <a:ext cx="3072385" cy="293709"/>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b="1" sz="1900">
                <a:solidFill>
                  <a:srgbClr val="1E1433"/>
                </a:solidFill>
                <a:latin typeface="Calibri"/>
                <a:ea typeface="Calibri"/>
                <a:cs typeface="Calibri"/>
                <a:sym typeface="Calibri"/>
              </a:defRPr>
            </a:lvl1pPr>
          </a:lstStyle>
          <a:p>
            <a:pPr/>
            <a:r>
              <a:t>Dead air</a:t>
            </a:r>
          </a:p>
        </p:txBody>
      </p:sp>
      <p:sp>
        <p:nvSpPr>
          <p:cNvPr id="178" name="TextBox 119"/>
          <p:cNvSpPr txBox="1"/>
          <p:nvPr/>
        </p:nvSpPr>
        <p:spPr>
          <a:xfrm>
            <a:off x="841246" y="5074920"/>
            <a:ext cx="3072385" cy="472824"/>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a:solidFill>
                  <a:srgbClr val="5F5A6B"/>
                </a:solidFill>
                <a:latin typeface="Calibri"/>
                <a:ea typeface="Calibri"/>
                <a:cs typeface="Calibri"/>
                <a:sym typeface="Calibri"/>
              </a:defRPr>
            </a:lvl1pPr>
          </a:lstStyle>
          <a:p>
            <a:pPr/>
            <a:r>
              <a:t>The agent goes silent while a blocking tool call runs.</a:t>
            </a:r>
          </a:p>
        </p:txBody>
      </p:sp>
      <p:sp>
        <p:nvSpPr>
          <p:cNvPr id="179" name="Rounded Rectangle 120"/>
          <p:cNvSpPr/>
          <p:nvPr/>
        </p:nvSpPr>
        <p:spPr>
          <a:xfrm>
            <a:off x="4251959" y="3886200"/>
            <a:ext cx="3429001" cy="2057400"/>
          </a:xfrm>
          <a:prstGeom prst="roundRect">
            <a:avLst>
              <a:gd name="adj" fmla="val 8000"/>
            </a:avLst>
          </a:prstGeom>
          <a:solidFill>
            <a:srgbClr val="EFE9F8"/>
          </a:solidFill>
          <a:ln w="12700">
            <a:miter lim="400000"/>
          </a:ln>
        </p:spPr>
        <p:txBody>
          <a:bodyPr lIns="0" tIns="0" rIns="0" bIns="0" anchor="ctr"/>
          <a:lstStyle/>
          <a:p>
            <a:pPr algn="ctr">
              <a:defRPr>
                <a:solidFill>
                  <a:srgbClr val="FFFFFF"/>
                </a:solidFill>
              </a:defRPr>
            </a:pPr>
          </a:p>
        </p:txBody>
      </p:sp>
      <p:grpSp>
        <p:nvGrpSpPr>
          <p:cNvPr id="182" name="Oval 121"/>
          <p:cNvGrpSpPr/>
          <p:nvPr/>
        </p:nvGrpSpPr>
        <p:grpSpPr>
          <a:xfrm>
            <a:off x="4434840" y="4069079"/>
            <a:ext cx="457201" cy="457201"/>
            <a:chOff x="0" y="0"/>
            <a:chExt cx="457200" cy="457200"/>
          </a:xfrm>
        </p:grpSpPr>
        <p:sp>
          <p:nvSpPr>
            <p:cNvPr id="180" name="Circle"/>
            <p:cNvSpPr/>
            <p:nvPr/>
          </p:nvSpPr>
          <p:spPr>
            <a:xfrm>
              <a:off x="0" y="0"/>
              <a:ext cx="457200" cy="457200"/>
            </a:xfrm>
            <a:prstGeom prst="ellipse">
              <a:avLst/>
            </a:prstGeom>
            <a:solidFill>
              <a:srgbClr val="D64550"/>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81" name="4"/>
            <p:cNvSpPr txBox="1"/>
            <p:nvPr/>
          </p:nvSpPr>
          <p:spPr>
            <a:xfrm>
              <a:off x="66954" y="107776"/>
              <a:ext cx="323292" cy="2416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800">
                  <a:solidFill>
                    <a:srgbClr val="FFFFFF"/>
                  </a:solidFill>
                  <a:latin typeface="Calibri"/>
                  <a:ea typeface="Calibri"/>
                  <a:cs typeface="Calibri"/>
                  <a:sym typeface="Calibri"/>
                </a:defRPr>
              </a:lvl1pPr>
            </a:lstStyle>
            <a:p>
              <a:pPr/>
              <a:r>
                <a:t>4</a:t>
              </a:r>
            </a:p>
          </p:txBody>
        </p:sp>
      </p:grpSp>
      <p:sp>
        <p:nvSpPr>
          <p:cNvPr id="183" name="TextBox 122"/>
          <p:cNvSpPr txBox="1"/>
          <p:nvPr/>
        </p:nvSpPr>
        <p:spPr>
          <a:xfrm>
            <a:off x="4453128" y="4663440"/>
            <a:ext cx="3072385" cy="293709"/>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b="1" sz="1900">
                <a:solidFill>
                  <a:srgbClr val="1E1433"/>
                </a:solidFill>
                <a:latin typeface="Calibri"/>
                <a:ea typeface="Calibri"/>
                <a:cs typeface="Calibri"/>
                <a:sym typeface="Calibri"/>
              </a:defRPr>
            </a:lvl1pPr>
          </a:lstStyle>
          <a:p>
            <a:pPr/>
            <a:r>
              <a:t>Pointless refusals</a:t>
            </a:r>
          </a:p>
        </p:txBody>
      </p:sp>
      <p:sp>
        <p:nvSpPr>
          <p:cNvPr id="184" name="TextBox 123"/>
          <p:cNvSpPr txBox="1"/>
          <p:nvPr/>
        </p:nvSpPr>
        <p:spPr>
          <a:xfrm>
            <a:off x="4453128" y="5074920"/>
            <a:ext cx="3072385" cy="701424"/>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a:solidFill>
                  <a:srgbClr val="5F5A6B"/>
                </a:solidFill>
                <a:latin typeface="Calibri"/>
                <a:ea typeface="Calibri"/>
                <a:cs typeface="Calibri"/>
                <a:sym typeface="Calibri"/>
              </a:defRPr>
            </a:lvl1pPr>
          </a:lstStyle>
          <a:p>
            <a:pPr/>
            <a:r>
              <a:t>The model refuses mock tools, like updating a passport, on generic safety grounds.</a:t>
            </a:r>
          </a:p>
        </p:txBody>
      </p:sp>
      <p:grpSp>
        <p:nvGrpSpPr>
          <p:cNvPr id="187" name="Rounded Rectangle 124"/>
          <p:cNvGrpSpPr/>
          <p:nvPr/>
        </p:nvGrpSpPr>
        <p:grpSpPr>
          <a:xfrm>
            <a:off x="8001000" y="1645920"/>
            <a:ext cx="3520441" cy="4297680"/>
            <a:chOff x="0" y="0"/>
            <a:chExt cx="3520440" cy="4297679"/>
          </a:xfrm>
        </p:grpSpPr>
        <p:sp>
          <p:nvSpPr>
            <p:cNvPr id="185" name="Rounded Rectangle"/>
            <p:cNvSpPr/>
            <p:nvPr/>
          </p:nvSpPr>
          <p:spPr>
            <a:xfrm>
              <a:off x="0" y="0"/>
              <a:ext cx="3520441" cy="4297680"/>
            </a:xfrm>
            <a:prstGeom prst="roundRect">
              <a:avLst>
                <a:gd name="adj" fmla="val 8000"/>
              </a:avLst>
            </a:prstGeom>
            <a:solidFill>
              <a:srgbClr val="1E1433"/>
            </a:solidFill>
            <a:ln w="12700" cap="flat">
              <a:noFill/>
              <a:miter lim="400000"/>
            </a:ln>
            <a:effectLst/>
          </p:spPr>
          <p:txBody>
            <a:bodyPr wrap="square" lIns="0" tIns="0" rIns="0" bIns="0" numCol="1" anchor="ctr">
              <a:noAutofit/>
            </a:bodyPr>
            <a:lstStyle/>
            <a:p>
              <a:pPr>
                <a:defRPr>
                  <a:solidFill>
                    <a:srgbClr val="FFFFFF"/>
                  </a:solidFill>
                </a:defRPr>
              </a:pPr>
            </a:p>
          </p:txBody>
        </p:sp>
        <p:sp>
          <p:nvSpPr>
            <p:cNvPr id="186" name="The root cause…"/>
            <p:cNvSpPr txBox="1"/>
            <p:nvPr/>
          </p:nvSpPr>
          <p:spPr>
            <a:xfrm>
              <a:off x="146495" y="791412"/>
              <a:ext cx="3227450" cy="271485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p>
              <a:pPr>
                <a:spcBef>
                  <a:spcPts val="800"/>
                </a:spcBef>
                <a:defRPr b="1" sz="1300">
                  <a:solidFill>
                    <a:srgbClr val="B9A3E3"/>
                  </a:solidFill>
                  <a:latin typeface="Calibri"/>
                  <a:ea typeface="Calibri"/>
                  <a:cs typeface="Calibri"/>
                  <a:sym typeface="Calibri"/>
                </a:defRPr>
              </a:pPr>
              <a:r>
                <a:t>The root cause</a:t>
              </a:r>
              <a:endParaRPr>
                <a:solidFill>
                  <a:srgbClr val="FFFFFF"/>
                </a:solidFill>
              </a:endParaRPr>
            </a:p>
            <a:p>
              <a:pPr>
                <a:spcBef>
                  <a:spcPts val="1000"/>
                </a:spcBef>
                <a:defRPr b="1" sz="2000">
                  <a:solidFill>
                    <a:srgbClr val="FFFFFF"/>
                  </a:solidFill>
                  <a:latin typeface="Calibri"/>
                  <a:ea typeface="Calibri"/>
                  <a:cs typeface="Calibri"/>
                  <a:sym typeface="Calibri"/>
                </a:defRPr>
              </a:pPr>
              <a:r>
                <a:t>Models propose tools the moment they think of them.</a:t>
              </a:r>
            </a:p>
            <a:p>
              <a:pPr>
                <a:spcBef>
                  <a:spcPts val="1000"/>
                </a:spcBef>
                <a:defRPr b="1" sz="2000">
                  <a:solidFill>
                    <a:srgbClr val="FFFFFF"/>
                  </a:solidFill>
                  <a:latin typeface="Calibri"/>
                  <a:ea typeface="Calibri"/>
                  <a:cs typeface="Calibri"/>
                  <a:sym typeface="Calibri"/>
                </a:defRPr>
              </a:pPr>
              <a:r>
                <a:t>Nothing knows which version of the request is still alive.</a:t>
              </a:r>
            </a:p>
            <a:p>
              <a:pPr>
                <a:defRPr b="1" sz="1700">
                  <a:solidFill>
                    <a:srgbClr val="9FE8D9"/>
                  </a:solidFill>
                  <a:latin typeface="Calibri"/>
                  <a:ea typeface="Calibri"/>
                  <a:cs typeface="Calibri"/>
                  <a:sym typeface="Calibri"/>
                </a:defRPr>
              </a:pPr>
              <a:r>
                <a:t>REACTOR adds that missing memory.</a:t>
              </a:r>
            </a:p>
          </p:txBody>
        </p:sp>
      </p:gr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1" name="Google Shape;113;p4"/>
          <p:cNvSpPr txBox="1"/>
          <p:nvPr>
            <p:ph type="title"/>
          </p:nvPr>
        </p:nvSpPr>
        <p:spPr>
          <a:xfrm>
            <a:off x="640080" y="566927"/>
            <a:ext cx="10881360" cy="777241"/>
          </a:xfrm>
          <a:prstGeom prst="rect">
            <a:avLst/>
          </a:prstGeom>
        </p:spPr>
        <p:txBody>
          <a:bodyPr/>
          <a:lstStyle>
            <a:lvl1pPr>
              <a:defRPr b="1" sz="3200">
                <a:solidFill>
                  <a:srgbClr val="704EA6"/>
                </a:solidFill>
              </a:defRPr>
            </a:lvl1pPr>
          </a:lstStyle>
          <a:p>
            <a:pPr/>
            <a:r>
              <a:t>REACTOR sits between the voice and the tools</a:t>
            </a:r>
          </a:p>
        </p:txBody>
      </p:sp>
      <p:sp>
        <p:nvSpPr>
          <p:cNvPr id="192" name="TextBox 113"/>
          <p:cNvSpPr txBox="1"/>
          <p:nvPr/>
        </p:nvSpPr>
        <p:spPr>
          <a:xfrm>
            <a:off x="658368" y="320040"/>
            <a:ext cx="7278625" cy="189132"/>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b="1" sz="1100">
                <a:solidFill>
                  <a:srgbClr val="14A38B"/>
                </a:solidFill>
                <a:latin typeface="Calibri"/>
                <a:ea typeface="Calibri"/>
                <a:cs typeface="Calibri"/>
                <a:sym typeface="Calibri"/>
              </a:defRPr>
            </a:lvl1pPr>
          </a:lstStyle>
          <a:p>
            <a:pPr/>
            <a:r>
              <a:t>OUR SOLUTION &amp; ARCHITECTURE</a:t>
            </a:r>
          </a:p>
        </p:txBody>
      </p:sp>
      <p:grpSp>
        <p:nvGrpSpPr>
          <p:cNvPr id="195" name="Rounded Rectangle 114"/>
          <p:cNvGrpSpPr/>
          <p:nvPr/>
        </p:nvGrpSpPr>
        <p:grpSpPr>
          <a:xfrm>
            <a:off x="566927" y="1600200"/>
            <a:ext cx="1920241" cy="1051561"/>
            <a:chOff x="0" y="0"/>
            <a:chExt cx="1920239" cy="1051560"/>
          </a:xfrm>
        </p:grpSpPr>
        <p:sp>
          <p:nvSpPr>
            <p:cNvPr id="193" name="Rounded Rectangle"/>
            <p:cNvSpPr/>
            <p:nvPr/>
          </p:nvSpPr>
          <p:spPr>
            <a:xfrm>
              <a:off x="0" y="0"/>
              <a:ext cx="1920240" cy="1051561"/>
            </a:xfrm>
            <a:prstGeom prst="roundRect">
              <a:avLst>
                <a:gd name="adj" fmla="val 8000"/>
              </a:avLst>
            </a:prstGeom>
            <a:solidFill>
              <a:srgbClr val="EFE9F8"/>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94" name="User audio…"/>
            <p:cNvSpPr txBox="1"/>
            <p:nvPr/>
          </p:nvSpPr>
          <p:spPr>
            <a:xfrm>
              <a:off x="88647" y="252144"/>
              <a:ext cx="1742946" cy="5472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p>
              <a:pPr algn="ctr">
                <a:defRPr b="1" sz="1700">
                  <a:solidFill>
                    <a:srgbClr val="704EA6"/>
                  </a:solidFill>
                  <a:latin typeface="Calibri"/>
                  <a:ea typeface="Calibri"/>
                  <a:cs typeface="Calibri"/>
                  <a:sym typeface="Calibri"/>
                </a:defRPr>
              </a:pPr>
              <a:r>
                <a:t>User audio</a:t>
              </a:r>
              <a:endParaRPr>
                <a:solidFill>
                  <a:srgbClr val="FFFFFF"/>
                </a:solidFill>
              </a:endParaRPr>
            </a:p>
            <a:p>
              <a:pPr algn="ctr">
                <a:defRPr sz="1100">
                  <a:solidFill>
                    <a:srgbClr val="5F5A6B"/>
                  </a:solidFill>
                  <a:latin typeface="Calibri"/>
                  <a:ea typeface="Calibri"/>
                  <a:cs typeface="Calibri"/>
                  <a:sym typeface="Calibri"/>
                </a:defRPr>
              </a:pPr>
              <a:r>
                <a:t>LiveKit · WebRTC</a:t>
              </a:r>
            </a:p>
          </p:txBody>
        </p:sp>
      </p:grpSp>
      <p:sp>
        <p:nvSpPr>
          <p:cNvPr id="196" name="Connector 115"/>
          <p:cNvSpPr/>
          <p:nvPr/>
        </p:nvSpPr>
        <p:spPr>
          <a:xfrm>
            <a:off x="2487167" y="2121407"/>
            <a:ext cx="365761" cy="1"/>
          </a:xfrm>
          <a:prstGeom prst="line">
            <a:avLst/>
          </a:prstGeom>
          <a:ln w="28575">
            <a:solidFill>
              <a:srgbClr val="704EA6"/>
            </a:solidFill>
            <a:tailEnd type="triangle"/>
          </a:ln>
          <a:effectLst>
            <a:outerShdw sx="100000" sy="100000" kx="0" ky="0" algn="b" rotWithShape="0" blurRad="38100" dist="20000" dir="5400000">
              <a:srgbClr val="000000">
                <a:alpha val="38000"/>
              </a:srgbClr>
            </a:outerShdw>
          </a:effectLst>
        </p:spPr>
        <p:txBody>
          <a:bodyPr lIns="0" tIns="0" rIns="0" bIns="0"/>
          <a:lstStyle/>
          <a:p>
            <a:pPr/>
          </a:p>
        </p:txBody>
      </p:sp>
      <p:grpSp>
        <p:nvGrpSpPr>
          <p:cNvPr id="199" name="Rounded Rectangle 116"/>
          <p:cNvGrpSpPr/>
          <p:nvPr/>
        </p:nvGrpSpPr>
        <p:grpSpPr>
          <a:xfrm>
            <a:off x="2852927" y="1600200"/>
            <a:ext cx="1920241" cy="1051561"/>
            <a:chOff x="0" y="0"/>
            <a:chExt cx="1920239" cy="1051560"/>
          </a:xfrm>
        </p:grpSpPr>
        <p:sp>
          <p:nvSpPr>
            <p:cNvPr id="197" name="Rounded Rectangle"/>
            <p:cNvSpPr/>
            <p:nvPr/>
          </p:nvSpPr>
          <p:spPr>
            <a:xfrm>
              <a:off x="0" y="0"/>
              <a:ext cx="1920240" cy="1051561"/>
            </a:xfrm>
            <a:prstGeom prst="roundRect">
              <a:avLst>
                <a:gd name="adj" fmla="val 8000"/>
              </a:avLst>
            </a:prstGeom>
            <a:solidFill>
              <a:srgbClr val="EFE9F8"/>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198" name="Gemini Live…"/>
            <p:cNvSpPr txBox="1"/>
            <p:nvPr/>
          </p:nvSpPr>
          <p:spPr>
            <a:xfrm>
              <a:off x="88647" y="252144"/>
              <a:ext cx="1742946" cy="5472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p>
              <a:pPr algn="ctr">
                <a:defRPr b="1" sz="1700">
                  <a:solidFill>
                    <a:srgbClr val="704EA6"/>
                  </a:solidFill>
                  <a:latin typeface="Calibri"/>
                  <a:ea typeface="Calibri"/>
                  <a:cs typeface="Calibri"/>
                  <a:sym typeface="Calibri"/>
                </a:defRPr>
              </a:pPr>
              <a:r>
                <a:t>Gemini Live</a:t>
              </a:r>
              <a:endParaRPr>
                <a:solidFill>
                  <a:srgbClr val="FFFFFF"/>
                </a:solidFill>
              </a:endParaRPr>
            </a:p>
            <a:p>
              <a:pPr algn="ctr">
                <a:defRPr sz="1100">
                  <a:solidFill>
                    <a:srgbClr val="5F5A6B"/>
                  </a:solidFill>
                  <a:latin typeface="Calibri"/>
                  <a:ea typeface="Calibri"/>
                  <a:cs typeface="Calibri"/>
                  <a:sym typeface="Calibri"/>
                </a:defRPr>
              </a:pPr>
              <a:r>
                <a:t>gemini-2.5-flash</a:t>
              </a:r>
            </a:p>
          </p:txBody>
        </p:sp>
      </p:grpSp>
      <p:sp>
        <p:nvSpPr>
          <p:cNvPr id="200" name="Connector 117"/>
          <p:cNvSpPr/>
          <p:nvPr/>
        </p:nvSpPr>
        <p:spPr>
          <a:xfrm>
            <a:off x="4773167" y="2121407"/>
            <a:ext cx="365761" cy="1"/>
          </a:xfrm>
          <a:prstGeom prst="line">
            <a:avLst/>
          </a:prstGeom>
          <a:ln w="28575">
            <a:solidFill>
              <a:srgbClr val="704EA6"/>
            </a:solidFill>
            <a:tailEnd type="triangle"/>
          </a:ln>
          <a:effectLst>
            <a:outerShdw sx="100000" sy="100000" kx="0" ky="0" algn="b" rotWithShape="0" blurRad="38100" dist="20000" dir="5400000">
              <a:srgbClr val="000000">
                <a:alpha val="38000"/>
              </a:srgbClr>
            </a:outerShdw>
          </a:effectLst>
        </p:spPr>
        <p:txBody>
          <a:bodyPr lIns="0" tIns="0" rIns="0" bIns="0"/>
          <a:lstStyle/>
          <a:p>
            <a:pPr/>
          </a:p>
        </p:txBody>
      </p:sp>
      <p:grpSp>
        <p:nvGrpSpPr>
          <p:cNvPr id="203" name="Rounded Rectangle 118"/>
          <p:cNvGrpSpPr/>
          <p:nvPr/>
        </p:nvGrpSpPr>
        <p:grpSpPr>
          <a:xfrm>
            <a:off x="5138928" y="1600200"/>
            <a:ext cx="1920241" cy="1051561"/>
            <a:chOff x="0" y="0"/>
            <a:chExt cx="1920239" cy="1051560"/>
          </a:xfrm>
        </p:grpSpPr>
        <p:sp>
          <p:nvSpPr>
            <p:cNvPr id="201" name="Rounded Rectangle"/>
            <p:cNvSpPr/>
            <p:nvPr/>
          </p:nvSpPr>
          <p:spPr>
            <a:xfrm>
              <a:off x="0" y="0"/>
              <a:ext cx="1920240" cy="1051561"/>
            </a:xfrm>
            <a:prstGeom prst="roundRect">
              <a:avLst>
                <a:gd name="adj" fmla="val 8000"/>
              </a:avLst>
            </a:prstGeom>
            <a:solidFill>
              <a:srgbClr val="EFE9F8"/>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02" name="Turn bridge…"/>
            <p:cNvSpPr txBox="1"/>
            <p:nvPr/>
          </p:nvSpPr>
          <p:spPr>
            <a:xfrm>
              <a:off x="88647" y="169594"/>
              <a:ext cx="1742946" cy="7123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p>
              <a:pPr algn="ctr">
                <a:defRPr b="1" sz="1700">
                  <a:solidFill>
                    <a:srgbClr val="704EA6"/>
                  </a:solidFill>
                  <a:latin typeface="Calibri"/>
                  <a:ea typeface="Calibri"/>
                  <a:cs typeface="Calibri"/>
                  <a:sym typeface="Calibri"/>
                </a:defRPr>
              </a:pPr>
              <a:r>
                <a:t>Turn bridge</a:t>
              </a:r>
              <a:endParaRPr>
                <a:solidFill>
                  <a:srgbClr val="FFFFFF"/>
                </a:solidFill>
              </a:endParaRPr>
            </a:p>
            <a:p>
              <a:pPr algn="ctr">
                <a:defRPr sz="1100">
                  <a:solidFill>
                    <a:srgbClr val="5F5A6B"/>
                  </a:solidFill>
                  <a:latin typeface="Calibri"/>
                  <a:ea typeface="Calibri"/>
                  <a:cs typeface="Calibri"/>
                  <a:sym typeface="Calibri"/>
                </a:defRPr>
              </a:pPr>
              <a:r>
                <a:t>correction, continuation or new?</a:t>
              </a:r>
            </a:p>
          </p:txBody>
        </p:sp>
      </p:grpSp>
      <p:sp>
        <p:nvSpPr>
          <p:cNvPr id="204" name="Connector 119"/>
          <p:cNvSpPr/>
          <p:nvPr/>
        </p:nvSpPr>
        <p:spPr>
          <a:xfrm>
            <a:off x="7059168" y="2121407"/>
            <a:ext cx="365761" cy="1"/>
          </a:xfrm>
          <a:prstGeom prst="line">
            <a:avLst/>
          </a:prstGeom>
          <a:ln w="28575">
            <a:solidFill>
              <a:srgbClr val="704EA6"/>
            </a:solidFill>
            <a:tailEnd type="triangle"/>
          </a:ln>
          <a:effectLst>
            <a:outerShdw sx="100000" sy="100000" kx="0" ky="0" algn="b" rotWithShape="0" blurRad="38100" dist="20000" dir="5400000">
              <a:srgbClr val="000000">
                <a:alpha val="38000"/>
              </a:srgbClr>
            </a:outerShdw>
          </a:effectLst>
        </p:spPr>
        <p:txBody>
          <a:bodyPr lIns="0" tIns="0" rIns="0" bIns="0"/>
          <a:lstStyle/>
          <a:p>
            <a:pPr/>
          </a:p>
        </p:txBody>
      </p:sp>
      <p:grpSp>
        <p:nvGrpSpPr>
          <p:cNvPr id="207" name="Rounded Rectangle 120"/>
          <p:cNvGrpSpPr/>
          <p:nvPr/>
        </p:nvGrpSpPr>
        <p:grpSpPr>
          <a:xfrm>
            <a:off x="7424926" y="1600200"/>
            <a:ext cx="1920241" cy="1051561"/>
            <a:chOff x="0" y="0"/>
            <a:chExt cx="1920239" cy="1051560"/>
          </a:xfrm>
        </p:grpSpPr>
        <p:sp>
          <p:nvSpPr>
            <p:cNvPr id="205" name="Rounded Rectangle"/>
            <p:cNvSpPr/>
            <p:nvPr/>
          </p:nvSpPr>
          <p:spPr>
            <a:xfrm>
              <a:off x="0" y="0"/>
              <a:ext cx="1920240" cy="1051561"/>
            </a:xfrm>
            <a:prstGeom prst="roundRect">
              <a:avLst>
                <a:gd name="adj" fmla="val 8000"/>
              </a:avLst>
            </a:prstGeom>
            <a:solidFill>
              <a:srgbClr val="704EA6"/>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06" name="Controller…"/>
            <p:cNvSpPr txBox="1"/>
            <p:nvPr/>
          </p:nvSpPr>
          <p:spPr>
            <a:xfrm>
              <a:off x="88647" y="252144"/>
              <a:ext cx="1742946" cy="5472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p>
              <a:pPr algn="ctr">
                <a:defRPr b="1" sz="1700">
                  <a:solidFill>
                    <a:srgbClr val="FFFFFF"/>
                  </a:solidFill>
                  <a:latin typeface="Calibri"/>
                  <a:ea typeface="Calibri"/>
                  <a:cs typeface="Calibri"/>
                  <a:sym typeface="Calibri"/>
                </a:defRPr>
              </a:pPr>
              <a:r>
                <a:t>Controller</a:t>
              </a:r>
            </a:p>
            <a:p>
              <a:pPr algn="ctr">
                <a:defRPr sz="1100">
                  <a:solidFill>
                    <a:srgbClr val="E9DEFA"/>
                  </a:solidFill>
                  <a:latin typeface="Calibri"/>
                  <a:ea typeface="Calibri"/>
                  <a:cs typeface="Calibri"/>
                  <a:sym typeface="Calibri"/>
                </a:defRPr>
              </a:pPr>
              <a:r>
                <a:t>versioned intents</a:t>
              </a:r>
            </a:p>
          </p:txBody>
        </p:sp>
      </p:grpSp>
      <p:sp>
        <p:nvSpPr>
          <p:cNvPr id="208" name="Connector 121"/>
          <p:cNvSpPr/>
          <p:nvPr/>
        </p:nvSpPr>
        <p:spPr>
          <a:xfrm>
            <a:off x="9345166" y="2121407"/>
            <a:ext cx="365762" cy="1"/>
          </a:xfrm>
          <a:prstGeom prst="line">
            <a:avLst/>
          </a:prstGeom>
          <a:ln w="28575">
            <a:solidFill>
              <a:srgbClr val="704EA6"/>
            </a:solidFill>
            <a:tailEnd type="triangle"/>
          </a:ln>
          <a:effectLst>
            <a:outerShdw sx="100000" sy="100000" kx="0" ky="0" algn="b" rotWithShape="0" blurRad="38100" dist="20000" dir="5400000">
              <a:srgbClr val="000000">
                <a:alpha val="38000"/>
              </a:srgbClr>
            </a:outerShdw>
          </a:effectLst>
        </p:spPr>
        <p:txBody>
          <a:bodyPr lIns="0" tIns="0" rIns="0" bIns="0"/>
          <a:lstStyle/>
          <a:p>
            <a:pPr/>
          </a:p>
        </p:txBody>
      </p:sp>
      <p:grpSp>
        <p:nvGrpSpPr>
          <p:cNvPr id="211" name="Rounded Rectangle 122"/>
          <p:cNvGrpSpPr/>
          <p:nvPr/>
        </p:nvGrpSpPr>
        <p:grpSpPr>
          <a:xfrm>
            <a:off x="9710928" y="1600200"/>
            <a:ext cx="1920241" cy="1051561"/>
            <a:chOff x="0" y="0"/>
            <a:chExt cx="1920239" cy="1051560"/>
          </a:xfrm>
        </p:grpSpPr>
        <p:sp>
          <p:nvSpPr>
            <p:cNvPr id="209" name="Rounded Rectangle"/>
            <p:cNvSpPr/>
            <p:nvPr/>
          </p:nvSpPr>
          <p:spPr>
            <a:xfrm>
              <a:off x="0" y="0"/>
              <a:ext cx="1920240" cy="1051561"/>
            </a:xfrm>
            <a:prstGeom prst="roundRect">
              <a:avLst>
                <a:gd name="adj" fmla="val 8000"/>
              </a:avLst>
            </a:prstGeom>
            <a:solidFill>
              <a:srgbClr val="EFE9F8"/>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10" name="12 tools…"/>
            <p:cNvSpPr txBox="1"/>
            <p:nvPr/>
          </p:nvSpPr>
          <p:spPr>
            <a:xfrm>
              <a:off x="88647" y="169594"/>
              <a:ext cx="1742946" cy="71237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p>
              <a:pPr algn="ctr">
                <a:defRPr b="1" sz="1700">
                  <a:solidFill>
                    <a:srgbClr val="704EA6"/>
                  </a:solidFill>
                  <a:latin typeface="Calibri"/>
                  <a:ea typeface="Calibri"/>
                  <a:cs typeface="Calibri"/>
                  <a:sym typeface="Calibri"/>
                </a:defRPr>
              </a:pPr>
              <a:r>
                <a:t>12 tools</a:t>
              </a:r>
              <a:endParaRPr>
                <a:solidFill>
                  <a:srgbClr val="FFFFFF"/>
                </a:solidFill>
              </a:endParaRPr>
            </a:p>
            <a:p>
              <a:pPr algn="ctr">
                <a:defRPr sz="1100">
                  <a:solidFill>
                    <a:srgbClr val="5F5A6B"/>
                  </a:solidFill>
                  <a:latin typeface="Calibri"/>
                  <a:ea typeface="Calibri"/>
                  <a:cs typeface="Calibri"/>
                  <a:sym typeface="Calibri"/>
                </a:defRPr>
              </a:pPr>
              <a:r>
                <a:t>travel · finance · housing · shop</a:t>
              </a:r>
            </a:p>
          </p:txBody>
        </p:sp>
      </p:grpSp>
      <p:sp>
        <p:nvSpPr>
          <p:cNvPr id="212" name="Connector 123"/>
          <p:cNvSpPr/>
          <p:nvPr/>
        </p:nvSpPr>
        <p:spPr>
          <a:xfrm>
            <a:off x="8385047" y="2651760"/>
            <a:ext cx="1" cy="548641"/>
          </a:xfrm>
          <a:prstGeom prst="line">
            <a:avLst/>
          </a:prstGeom>
          <a:ln w="28575">
            <a:solidFill>
              <a:srgbClr val="704EA6"/>
            </a:solidFill>
            <a:tailEnd type="triangle"/>
          </a:ln>
          <a:effectLst>
            <a:outerShdw sx="100000" sy="100000" kx="0" ky="0" algn="b" rotWithShape="0" blurRad="38100" dist="20000" dir="5400000">
              <a:srgbClr val="000000">
                <a:alpha val="38000"/>
              </a:srgbClr>
            </a:outerShdw>
          </a:effectLst>
        </p:spPr>
        <p:txBody>
          <a:bodyPr lIns="0" tIns="0" rIns="0" bIns="0"/>
          <a:lstStyle/>
          <a:p>
            <a:pPr/>
          </a:p>
        </p:txBody>
      </p:sp>
      <p:sp>
        <p:nvSpPr>
          <p:cNvPr id="213" name="Rounded Rectangle 124"/>
          <p:cNvSpPr/>
          <p:nvPr/>
        </p:nvSpPr>
        <p:spPr>
          <a:xfrm>
            <a:off x="566927" y="3200400"/>
            <a:ext cx="11064242" cy="2286000"/>
          </a:xfrm>
          <a:prstGeom prst="roundRect">
            <a:avLst>
              <a:gd name="adj" fmla="val 8000"/>
            </a:avLst>
          </a:prstGeom>
          <a:solidFill>
            <a:srgbClr val="EFE9F8"/>
          </a:solidFill>
          <a:ln w="12700">
            <a:miter lim="400000"/>
          </a:ln>
        </p:spPr>
        <p:txBody>
          <a:bodyPr lIns="0" tIns="0" rIns="0" bIns="0" anchor="ctr"/>
          <a:lstStyle/>
          <a:p>
            <a:pPr algn="ctr">
              <a:defRPr>
                <a:solidFill>
                  <a:srgbClr val="FFFFFF"/>
                </a:solidFill>
              </a:defRPr>
            </a:pPr>
          </a:p>
        </p:txBody>
      </p:sp>
      <p:sp>
        <p:nvSpPr>
          <p:cNvPr id="214" name="TextBox 125"/>
          <p:cNvSpPr txBox="1"/>
          <p:nvPr/>
        </p:nvSpPr>
        <p:spPr>
          <a:xfrm>
            <a:off x="795528" y="3291840"/>
            <a:ext cx="10021825" cy="241421"/>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b="1" sz="1500">
                <a:solidFill>
                  <a:srgbClr val="704EA6"/>
                </a:solidFill>
                <a:latin typeface="Calibri"/>
                <a:ea typeface="Calibri"/>
                <a:cs typeface="Calibri"/>
                <a:sym typeface="Calibri"/>
              </a:defRPr>
            </a:lvl1pPr>
          </a:lstStyle>
          <a:p>
            <a:pPr/>
            <a:r>
              <a:t>Inside the Versioned Intent Controller</a:t>
            </a:r>
          </a:p>
        </p:txBody>
      </p:sp>
      <p:grpSp>
        <p:nvGrpSpPr>
          <p:cNvPr id="217" name="Rounded Rectangle 126"/>
          <p:cNvGrpSpPr/>
          <p:nvPr/>
        </p:nvGrpSpPr>
        <p:grpSpPr>
          <a:xfrm>
            <a:off x="777240" y="3703320"/>
            <a:ext cx="2514601" cy="1600201"/>
            <a:chOff x="0" y="0"/>
            <a:chExt cx="2514600" cy="1600200"/>
          </a:xfrm>
        </p:grpSpPr>
        <p:sp>
          <p:nvSpPr>
            <p:cNvPr id="215" name="Rounded Rectangle"/>
            <p:cNvSpPr/>
            <p:nvPr/>
          </p:nvSpPr>
          <p:spPr>
            <a:xfrm>
              <a:off x="0" y="0"/>
              <a:ext cx="2514600" cy="1600200"/>
            </a:xfrm>
            <a:prstGeom prst="roundRect">
              <a:avLst>
                <a:gd name="adj" fmla="val 8000"/>
              </a:avLst>
            </a:prstGeom>
            <a:solidFill>
              <a:srgbClr val="FFFFFF"/>
            </a:solidFill>
            <a:ln w="12700" cap="flat">
              <a:noFill/>
              <a:miter lim="400000"/>
            </a:ln>
            <a:effectLst/>
          </p:spPr>
          <p:txBody>
            <a:bodyPr wrap="square" lIns="0" tIns="0" rIns="0" bIns="0" numCol="1" anchor="t">
              <a:noAutofit/>
            </a:bodyPr>
            <a:lstStyle/>
            <a:p>
              <a:pPr>
                <a:defRPr>
                  <a:solidFill>
                    <a:srgbClr val="FFFFFF"/>
                  </a:solidFill>
                </a:defRPr>
              </a:pPr>
            </a:p>
          </p:txBody>
        </p:sp>
        <p:sp>
          <p:nvSpPr>
            <p:cNvPr id="216" name="Version it…"/>
            <p:cNvSpPr txBox="1"/>
            <p:nvPr/>
          </p:nvSpPr>
          <p:spPr>
            <a:xfrm>
              <a:off x="101502" y="37494"/>
              <a:ext cx="2311596" cy="85916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t">
              <a:spAutoFit/>
            </a:bodyPr>
            <a:lstStyle/>
            <a:p>
              <a:pPr>
                <a:spcBef>
                  <a:spcPts val="400"/>
                </a:spcBef>
                <a:defRPr b="1" sz="1800">
                  <a:solidFill>
                    <a:srgbClr val="704EA6"/>
                  </a:solidFill>
                  <a:latin typeface="Calibri"/>
                  <a:ea typeface="Calibri"/>
                  <a:cs typeface="Calibri"/>
                  <a:sym typeface="Calibri"/>
                </a:defRPr>
              </a:pPr>
              <a:r>
                <a:t>Version it</a:t>
              </a:r>
              <a:endParaRPr>
                <a:solidFill>
                  <a:srgbClr val="FFFFFF"/>
                </a:solidFill>
              </a:endParaRPr>
            </a:p>
            <a:p>
              <a:pPr>
                <a:defRPr sz="1300">
                  <a:solidFill>
                    <a:srgbClr val="1E1433"/>
                  </a:solidFill>
                  <a:latin typeface="Calibri"/>
                  <a:ea typeface="Calibri"/>
                  <a:cs typeface="Calibri"/>
                  <a:sym typeface="Calibri"/>
                </a:defRPr>
              </a:pPr>
              <a:r>
                <a:t>Every request gets a RequestID and Revision.</a:t>
              </a:r>
            </a:p>
          </p:txBody>
        </p:sp>
      </p:grpSp>
      <p:grpSp>
        <p:nvGrpSpPr>
          <p:cNvPr id="220" name="Rounded Rectangle 127"/>
          <p:cNvGrpSpPr/>
          <p:nvPr/>
        </p:nvGrpSpPr>
        <p:grpSpPr>
          <a:xfrm>
            <a:off x="3474720" y="3703320"/>
            <a:ext cx="2514601" cy="1600201"/>
            <a:chOff x="0" y="0"/>
            <a:chExt cx="2514600" cy="1600200"/>
          </a:xfrm>
        </p:grpSpPr>
        <p:sp>
          <p:nvSpPr>
            <p:cNvPr id="218" name="Rounded Rectangle"/>
            <p:cNvSpPr/>
            <p:nvPr/>
          </p:nvSpPr>
          <p:spPr>
            <a:xfrm>
              <a:off x="0" y="0"/>
              <a:ext cx="2514600" cy="1600200"/>
            </a:xfrm>
            <a:prstGeom prst="roundRect">
              <a:avLst>
                <a:gd name="adj" fmla="val 8000"/>
              </a:avLst>
            </a:prstGeom>
            <a:solidFill>
              <a:srgbClr val="FFFFFF"/>
            </a:solidFill>
            <a:ln w="12700" cap="flat">
              <a:noFill/>
              <a:miter lim="400000"/>
            </a:ln>
            <a:effectLst/>
          </p:spPr>
          <p:txBody>
            <a:bodyPr wrap="square" lIns="0" tIns="0" rIns="0" bIns="0" numCol="1" anchor="t">
              <a:noAutofit/>
            </a:bodyPr>
            <a:lstStyle/>
            <a:p>
              <a:pPr>
                <a:defRPr>
                  <a:solidFill>
                    <a:srgbClr val="FFFFFF"/>
                  </a:solidFill>
                </a:defRPr>
              </a:pPr>
            </a:p>
          </p:txBody>
        </p:sp>
        <p:sp>
          <p:nvSpPr>
            <p:cNvPr id="219" name="Cancel it…"/>
            <p:cNvSpPr txBox="1"/>
            <p:nvPr/>
          </p:nvSpPr>
          <p:spPr>
            <a:xfrm>
              <a:off x="101502" y="37494"/>
              <a:ext cx="2311596" cy="85916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t">
              <a:spAutoFit/>
            </a:bodyPr>
            <a:lstStyle/>
            <a:p>
              <a:pPr>
                <a:spcBef>
                  <a:spcPts val="400"/>
                </a:spcBef>
                <a:defRPr b="1" sz="1800">
                  <a:solidFill>
                    <a:srgbClr val="704EA6"/>
                  </a:solidFill>
                  <a:latin typeface="Calibri"/>
                  <a:ea typeface="Calibri"/>
                  <a:cs typeface="Calibri"/>
                  <a:sym typeface="Calibri"/>
                </a:defRPr>
              </a:pPr>
              <a:r>
                <a:t>Cancel it</a:t>
              </a:r>
              <a:endParaRPr>
                <a:solidFill>
                  <a:srgbClr val="FFFFFF"/>
                </a:solidFill>
              </a:endParaRPr>
            </a:p>
            <a:p>
              <a:pPr>
                <a:defRPr sz="1300">
                  <a:solidFill>
                    <a:srgbClr val="1E1433"/>
                  </a:solidFill>
                  <a:latin typeface="Calibri"/>
                  <a:ea typeface="Calibri"/>
                  <a:cs typeface="Calibri"/>
                  <a:sym typeface="Calibri"/>
                </a:defRPr>
              </a:pPr>
              <a:r>
                <a:t>Superseded calls die before dispatch.</a:t>
              </a:r>
            </a:p>
          </p:txBody>
        </p:sp>
      </p:grpSp>
      <p:grpSp>
        <p:nvGrpSpPr>
          <p:cNvPr id="223" name="Rounded Rectangle 128"/>
          <p:cNvGrpSpPr/>
          <p:nvPr/>
        </p:nvGrpSpPr>
        <p:grpSpPr>
          <a:xfrm>
            <a:off x="6172200" y="3703320"/>
            <a:ext cx="2514600" cy="1600201"/>
            <a:chOff x="0" y="0"/>
            <a:chExt cx="2514600" cy="1600200"/>
          </a:xfrm>
        </p:grpSpPr>
        <p:sp>
          <p:nvSpPr>
            <p:cNvPr id="221" name="Rounded Rectangle"/>
            <p:cNvSpPr/>
            <p:nvPr/>
          </p:nvSpPr>
          <p:spPr>
            <a:xfrm>
              <a:off x="0" y="0"/>
              <a:ext cx="2514600" cy="1600200"/>
            </a:xfrm>
            <a:prstGeom prst="roundRect">
              <a:avLst>
                <a:gd name="adj" fmla="val 8000"/>
              </a:avLst>
            </a:prstGeom>
            <a:solidFill>
              <a:srgbClr val="FFFFFF"/>
            </a:solidFill>
            <a:ln w="12700" cap="flat">
              <a:noFill/>
              <a:miter lim="400000"/>
            </a:ln>
            <a:effectLst/>
          </p:spPr>
          <p:txBody>
            <a:bodyPr wrap="square" lIns="0" tIns="0" rIns="0" bIns="0" numCol="1" anchor="t">
              <a:noAutofit/>
            </a:bodyPr>
            <a:lstStyle/>
            <a:p>
              <a:pPr>
                <a:defRPr>
                  <a:solidFill>
                    <a:srgbClr val="FFFFFF"/>
                  </a:solidFill>
                </a:defRPr>
              </a:pPr>
            </a:p>
          </p:txBody>
        </p:sp>
        <p:sp>
          <p:nvSpPr>
            <p:cNvPr id="222" name="Coalesce it…"/>
            <p:cNvSpPr txBox="1"/>
            <p:nvPr/>
          </p:nvSpPr>
          <p:spPr>
            <a:xfrm>
              <a:off x="101502" y="37494"/>
              <a:ext cx="2311596" cy="85916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t">
              <a:spAutoFit/>
            </a:bodyPr>
            <a:lstStyle/>
            <a:p>
              <a:pPr>
                <a:spcBef>
                  <a:spcPts val="400"/>
                </a:spcBef>
                <a:defRPr b="1" sz="1800">
                  <a:solidFill>
                    <a:srgbClr val="704EA6"/>
                  </a:solidFill>
                  <a:latin typeface="Calibri"/>
                  <a:ea typeface="Calibri"/>
                  <a:cs typeface="Calibri"/>
                  <a:sym typeface="Calibri"/>
                </a:defRPr>
              </a:pPr>
              <a:r>
                <a:t>Coalesce it</a:t>
              </a:r>
              <a:endParaRPr>
                <a:solidFill>
                  <a:srgbClr val="FFFFFF"/>
                </a:solidFill>
              </a:endParaRPr>
            </a:p>
            <a:p>
              <a:pPr>
                <a:defRPr sz="1300">
                  <a:solidFill>
                    <a:srgbClr val="1E1433"/>
                  </a:solidFill>
                  <a:latin typeface="Calibri"/>
                  <a:ea typeface="Calibri"/>
                  <a:cs typeface="Calibri"/>
                  <a:sym typeface="Calibri"/>
                </a:defRPr>
              </a:pPr>
              <a:r>
                <a:t>Duplicate proposals share one execution.</a:t>
              </a:r>
            </a:p>
          </p:txBody>
        </p:sp>
      </p:grpSp>
      <p:grpSp>
        <p:nvGrpSpPr>
          <p:cNvPr id="226" name="Rounded Rectangle 129"/>
          <p:cNvGrpSpPr/>
          <p:nvPr/>
        </p:nvGrpSpPr>
        <p:grpSpPr>
          <a:xfrm>
            <a:off x="8869680" y="3703320"/>
            <a:ext cx="2514601" cy="1600201"/>
            <a:chOff x="0" y="0"/>
            <a:chExt cx="2514600" cy="1600200"/>
          </a:xfrm>
        </p:grpSpPr>
        <p:sp>
          <p:nvSpPr>
            <p:cNvPr id="224" name="Rounded Rectangle"/>
            <p:cNvSpPr/>
            <p:nvPr/>
          </p:nvSpPr>
          <p:spPr>
            <a:xfrm>
              <a:off x="0" y="0"/>
              <a:ext cx="2514600" cy="1600200"/>
            </a:xfrm>
            <a:prstGeom prst="roundRect">
              <a:avLst>
                <a:gd name="adj" fmla="val 8000"/>
              </a:avLst>
            </a:prstGeom>
            <a:solidFill>
              <a:srgbClr val="FFFFFF"/>
            </a:solidFill>
            <a:ln w="12700" cap="flat">
              <a:noFill/>
              <a:miter lim="400000"/>
            </a:ln>
            <a:effectLst/>
          </p:spPr>
          <p:txBody>
            <a:bodyPr wrap="square" lIns="0" tIns="0" rIns="0" bIns="0" numCol="1" anchor="t">
              <a:noAutofit/>
            </a:bodyPr>
            <a:lstStyle/>
            <a:p>
              <a:pPr>
                <a:defRPr>
                  <a:solidFill>
                    <a:srgbClr val="FFFFFF"/>
                  </a:solidFill>
                </a:defRPr>
              </a:pPr>
            </a:p>
          </p:txBody>
        </p:sp>
        <p:sp>
          <p:nvSpPr>
            <p:cNvPr id="225" name="Order it…"/>
            <p:cNvSpPr txBox="1"/>
            <p:nvPr/>
          </p:nvSpPr>
          <p:spPr>
            <a:xfrm>
              <a:off x="101502" y="37494"/>
              <a:ext cx="2311596" cy="85916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t">
              <a:spAutoFit/>
            </a:bodyPr>
            <a:lstStyle/>
            <a:p>
              <a:pPr>
                <a:spcBef>
                  <a:spcPts val="400"/>
                </a:spcBef>
                <a:defRPr b="1" sz="1800">
                  <a:solidFill>
                    <a:srgbClr val="704EA6"/>
                  </a:solidFill>
                  <a:latin typeface="Calibri"/>
                  <a:ea typeface="Calibri"/>
                  <a:cs typeface="Calibri"/>
                  <a:sym typeface="Calibri"/>
                </a:defRPr>
              </a:pPr>
              <a:r>
                <a:t>Order it</a:t>
              </a:r>
              <a:endParaRPr>
                <a:solidFill>
                  <a:srgbClr val="FFFFFF"/>
                </a:solidFill>
              </a:endParaRPr>
            </a:p>
            <a:p>
              <a:pPr>
                <a:defRPr sz="1300">
                  <a:solidFill>
                    <a:srgbClr val="1E1433"/>
                  </a:solidFill>
                  <a:latin typeface="Calibri"/>
                  <a:ea typeface="Calibri"/>
                  <a:cs typeface="Calibri"/>
                  <a:sym typeface="Calibri"/>
                </a:defRPr>
              </a:pPr>
              <a:r>
                <a:t>Reads run in parallel. Writes go one at a time.</a:t>
              </a:r>
            </a:p>
          </p:txBody>
        </p:sp>
      </p:grpSp>
      <p:sp>
        <p:nvSpPr>
          <p:cNvPr id="227" name="TextBox 130"/>
          <p:cNvSpPr txBox="1"/>
          <p:nvPr/>
        </p:nvSpPr>
        <p:spPr>
          <a:xfrm>
            <a:off x="585215" y="5669279"/>
            <a:ext cx="11027666" cy="424827"/>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sz="1300">
                <a:solidFill>
                  <a:srgbClr val="5F5A6B"/>
                </a:solidFill>
                <a:latin typeface="Calibri"/>
                <a:ea typeface="Calibri"/>
                <a:cs typeface="Calibri"/>
                <a:sym typeface="Calibri"/>
              </a:defRPr>
            </a:lvl1pPr>
          </a:lstStyle>
          <a:p>
            <a:pPr/>
            <a:r>
              <a:t>Tools run in an async DAG in the background, so the model keeps speaking. Every step is logged as secrets-redacted JSONL and scored by the exact-match FDB-v3 scorer.</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1" name="Google Shape;119;p5"/>
          <p:cNvSpPr txBox="1"/>
          <p:nvPr>
            <p:ph type="title"/>
          </p:nvPr>
        </p:nvSpPr>
        <p:spPr>
          <a:xfrm>
            <a:off x="640080" y="566927"/>
            <a:ext cx="10881360" cy="777241"/>
          </a:xfrm>
          <a:prstGeom prst="rect">
            <a:avLst/>
          </a:prstGeom>
        </p:spPr>
        <p:txBody>
          <a:bodyPr/>
          <a:lstStyle>
            <a:lvl1pPr>
              <a:defRPr b="1" sz="3200">
                <a:solidFill>
                  <a:srgbClr val="704EA6"/>
                </a:solidFill>
              </a:defRPr>
            </a:lvl1pPr>
          </a:lstStyle>
          <a:p>
            <a:pPr/>
            <a:r>
              <a:t>Ten minutes becomes seven. One timer rings.</a:t>
            </a:r>
          </a:p>
        </p:txBody>
      </p:sp>
      <p:sp>
        <p:nvSpPr>
          <p:cNvPr id="232" name="TextBox 119"/>
          <p:cNvSpPr txBox="1"/>
          <p:nvPr/>
        </p:nvSpPr>
        <p:spPr>
          <a:xfrm>
            <a:off x="658368" y="320040"/>
            <a:ext cx="7278625" cy="189132"/>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b="1" sz="1100">
                <a:solidFill>
                  <a:srgbClr val="14A38B"/>
                </a:solidFill>
                <a:latin typeface="Calibri"/>
                <a:ea typeface="Calibri"/>
                <a:cs typeface="Calibri"/>
                <a:sym typeface="Calibri"/>
              </a:defRPr>
            </a:lvl1pPr>
          </a:lstStyle>
          <a:p>
            <a:pPr/>
            <a:r>
              <a:t>DEMO &amp; PRODUCT WALKTHROUGH</a:t>
            </a:r>
          </a:p>
        </p:txBody>
      </p:sp>
      <p:sp>
        <p:nvSpPr>
          <p:cNvPr id="233" name="Rounded Rectangle 120"/>
          <p:cNvSpPr/>
          <p:nvPr/>
        </p:nvSpPr>
        <p:spPr>
          <a:xfrm>
            <a:off x="640080" y="1600200"/>
            <a:ext cx="10881360" cy="1143000"/>
          </a:xfrm>
          <a:prstGeom prst="roundRect">
            <a:avLst>
              <a:gd name="adj" fmla="val 8000"/>
            </a:avLst>
          </a:prstGeom>
          <a:solidFill>
            <a:srgbClr val="EFE9F8"/>
          </a:solidFill>
          <a:ln w="12700">
            <a:miter lim="400000"/>
          </a:ln>
        </p:spPr>
        <p:txBody>
          <a:bodyPr lIns="0" tIns="0" rIns="0" bIns="0" anchor="ctr"/>
          <a:lstStyle/>
          <a:p>
            <a:pPr algn="ctr">
              <a:defRPr>
                <a:solidFill>
                  <a:srgbClr val="FFFFFF"/>
                </a:solidFill>
              </a:defRPr>
            </a:pPr>
          </a:p>
        </p:txBody>
      </p:sp>
      <p:sp>
        <p:nvSpPr>
          <p:cNvPr id="234" name="TextBox 121"/>
          <p:cNvSpPr txBox="1"/>
          <p:nvPr/>
        </p:nvSpPr>
        <p:spPr>
          <a:xfrm>
            <a:off x="795527" y="1965960"/>
            <a:ext cx="1517906" cy="241421"/>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b="1" sz="1500">
                <a:solidFill>
                  <a:srgbClr val="704EA6"/>
                </a:solidFill>
                <a:latin typeface="Calibri"/>
                <a:ea typeface="Calibri"/>
                <a:cs typeface="Calibri"/>
                <a:sym typeface="Calibri"/>
              </a:defRPr>
            </a:lvl1pPr>
          </a:lstStyle>
          <a:p>
            <a:pPr/>
            <a:r>
              <a:t>User says</a:t>
            </a:r>
          </a:p>
        </p:txBody>
      </p:sp>
      <p:sp>
        <p:nvSpPr>
          <p:cNvPr id="235" name="Rounded Rectangle 122"/>
          <p:cNvSpPr/>
          <p:nvPr/>
        </p:nvSpPr>
        <p:spPr>
          <a:xfrm>
            <a:off x="640080" y="2926079"/>
            <a:ext cx="10881360" cy="1143001"/>
          </a:xfrm>
          <a:prstGeom prst="roundRect">
            <a:avLst>
              <a:gd name="adj" fmla="val 8000"/>
            </a:avLst>
          </a:prstGeom>
          <a:solidFill>
            <a:srgbClr val="EFE9F8"/>
          </a:solidFill>
          <a:ln w="12700">
            <a:miter lim="400000"/>
          </a:ln>
        </p:spPr>
        <p:txBody>
          <a:bodyPr lIns="0" tIns="0" rIns="0" bIns="0" anchor="ctr"/>
          <a:lstStyle/>
          <a:p>
            <a:pPr algn="ctr">
              <a:defRPr>
                <a:solidFill>
                  <a:srgbClr val="FFFFFF"/>
                </a:solidFill>
              </a:defRPr>
            </a:pPr>
          </a:p>
        </p:txBody>
      </p:sp>
      <p:sp>
        <p:nvSpPr>
          <p:cNvPr id="236" name="TextBox 123"/>
          <p:cNvSpPr txBox="1"/>
          <p:nvPr/>
        </p:nvSpPr>
        <p:spPr>
          <a:xfrm>
            <a:off x="795527" y="3291840"/>
            <a:ext cx="1517906" cy="241421"/>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b="1" sz="1500">
                <a:solidFill>
                  <a:srgbClr val="704EA6"/>
                </a:solidFill>
                <a:latin typeface="Calibri"/>
                <a:ea typeface="Calibri"/>
                <a:cs typeface="Calibri"/>
                <a:sym typeface="Calibri"/>
              </a:defRPr>
            </a:lvl1pPr>
          </a:lstStyle>
          <a:p>
            <a:pPr/>
            <a:r>
              <a:t>Controller</a:t>
            </a:r>
          </a:p>
        </p:txBody>
      </p:sp>
      <p:sp>
        <p:nvSpPr>
          <p:cNvPr id="237" name="Rounded Rectangle 124"/>
          <p:cNvSpPr/>
          <p:nvPr/>
        </p:nvSpPr>
        <p:spPr>
          <a:xfrm>
            <a:off x="640080" y="4251959"/>
            <a:ext cx="10881360" cy="1143001"/>
          </a:xfrm>
          <a:prstGeom prst="roundRect">
            <a:avLst>
              <a:gd name="adj" fmla="val 8000"/>
            </a:avLst>
          </a:prstGeom>
          <a:solidFill>
            <a:srgbClr val="EFE9F8"/>
          </a:solidFill>
          <a:ln w="12700">
            <a:miter lim="400000"/>
          </a:ln>
        </p:spPr>
        <p:txBody>
          <a:bodyPr lIns="0" tIns="0" rIns="0" bIns="0" anchor="ctr"/>
          <a:lstStyle/>
          <a:p>
            <a:pPr algn="ctr">
              <a:defRPr>
                <a:solidFill>
                  <a:srgbClr val="FFFFFF"/>
                </a:solidFill>
              </a:defRPr>
            </a:pPr>
          </a:p>
        </p:txBody>
      </p:sp>
      <p:sp>
        <p:nvSpPr>
          <p:cNvPr id="238" name="TextBox 125"/>
          <p:cNvSpPr txBox="1"/>
          <p:nvPr/>
        </p:nvSpPr>
        <p:spPr>
          <a:xfrm>
            <a:off x="795527" y="4617720"/>
            <a:ext cx="1517906" cy="241421"/>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b="1" sz="1500">
                <a:solidFill>
                  <a:srgbClr val="704EA6"/>
                </a:solidFill>
                <a:latin typeface="Calibri"/>
                <a:ea typeface="Calibri"/>
                <a:cs typeface="Calibri"/>
                <a:sym typeface="Calibri"/>
              </a:defRPr>
            </a:lvl1pPr>
          </a:lstStyle>
          <a:p>
            <a:pPr/>
            <a:r>
              <a:t>Tools</a:t>
            </a:r>
          </a:p>
        </p:txBody>
      </p:sp>
      <p:grpSp>
        <p:nvGrpSpPr>
          <p:cNvPr id="241" name="Rounded Rectangle 126"/>
          <p:cNvGrpSpPr/>
          <p:nvPr/>
        </p:nvGrpSpPr>
        <p:grpSpPr>
          <a:xfrm>
            <a:off x="2468879" y="1737360"/>
            <a:ext cx="2834641" cy="868681"/>
            <a:chOff x="0" y="0"/>
            <a:chExt cx="2834639" cy="868680"/>
          </a:xfrm>
        </p:grpSpPr>
        <p:sp>
          <p:nvSpPr>
            <p:cNvPr id="239" name="Rounded Rectangle"/>
            <p:cNvSpPr/>
            <p:nvPr/>
          </p:nvSpPr>
          <p:spPr>
            <a:xfrm>
              <a:off x="0" y="0"/>
              <a:ext cx="2834640" cy="868681"/>
            </a:xfrm>
            <a:prstGeom prst="roundRect">
              <a:avLst>
                <a:gd name="adj" fmla="val 8000"/>
              </a:avLst>
            </a:prstGeom>
            <a:solidFill>
              <a:srgbClr val="704EA6"/>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40" name="“Set a ten-minute timer…”"/>
            <p:cNvSpPr txBox="1"/>
            <p:nvPr/>
          </p:nvSpPr>
          <p:spPr>
            <a:xfrm>
              <a:off x="84362" y="277807"/>
              <a:ext cx="2665916" cy="3130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300">
                  <a:solidFill>
                    <a:srgbClr val="FFFFFF"/>
                  </a:solidFill>
                  <a:latin typeface="Calibri"/>
                  <a:ea typeface="Calibri"/>
                  <a:cs typeface="Calibri"/>
                  <a:sym typeface="Calibri"/>
                </a:defRPr>
              </a:lvl1pPr>
            </a:lstStyle>
            <a:p>
              <a:pPr/>
              <a:r>
                <a:t>“Set a ten-minute timer…”</a:t>
              </a:r>
            </a:p>
          </p:txBody>
        </p:sp>
      </p:grpSp>
      <p:grpSp>
        <p:nvGrpSpPr>
          <p:cNvPr id="244" name="Rounded Rectangle 127"/>
          <p:cNvGrpSpPr/>
          <p:nvPr/>
        </p:nvGrpSpPr>
        <p:grpSpPr>
          <a:xfrm>
            <a:off x="5486400" y="1737360"/>
            <a:ext cx="2834640" cy="868681"/>
            <a:chOff x="0" y="0"/>
            <a:chExt cx="2834639" cy="868680"/>
          </a:xfrm>
        </p:grpSpPr>
        <p:sp>
          <p:nvSpPr>
            <p:cNvPr id="242" name="Rounded Rectangle"/>
            <p:cNvSpPr/>
            <p:nvPr/>
          </p:nvSpPr>
          <p:spPr>
            <a:xfrm>
              <a:off x="0" y="0"/>
              <a:ext cx="2834640" cy="868681"/>
            </a:xfrm>
            <a:prstGeom prst="roundRect">
              <a:avLst>
                <a:gd name="adj" fmla="val 8000"/>
              </a:avLst>
            </a:prstGeom>
            <a:solidFill>
              <a:srgbClr val="E8A33D"/>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43" name="“…wait, make that seven minutes!”"/>
            <p:cNvSpPr txBox="1"/>
            <p:nvPr/>
          </p:nvSpPr>
          <p:spPr>
            <a:xfrm>
              <a:off x="84362" y="277807"/>
              <a:ext cx="2665916" cy="3130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300">
                  <a:solidFill>
                    <a:srgbClr val="1E1433"/>
                  </a:solidFill>
                  <a:latin typeface="Calibri"/>
                  <a:ea typeface="Calibri"/>
                  <a:cs typeface="Calibri"/>
                  <a:sym typeface="Calibri"/>
                </a:defRPr>
              </a:lvl1pPr>
            </a:lstStyle>
            <a:p>
              <a:pPr/>
              <a:r>
                <a:t>“…wait, make that seven minutes!”</a:t>
              </a:r>
            </a:p>
          </p:txBody>
        </p:sp>
      </p:grpSp>
      <p:grpSp>
        <p:nvGrpSpPr>
          <p:cNvPr id="247" name="Rounded Rectangle 128"/>
          <p:cNvGrpSpPr/>
          <p:nvPr/>
        </p:nvGrpSpPr>
        <p:grpSpPr>
          <a:xfrm>
            <a:off x="8503919" y="1737360"/>
            <a:ext cx="2834641" cy="868681"/>
            <a:chOff x="0" y="0"/>
            <a:chExt cx="2834639" cy="868680"/>
          </a:xfrm>
        </p:grpSpPr>
        <p:sp>
          <p:nvSpPr>
            <p:cNvPr id="245" name="Rounded Rectangle"/>
            <p:cNvSpPr/>
            <p:nvPr/>
          </p:nvSpPr>
          <p:spPr>
            <a:xfrm>
              <a:off x="0" y="0"/>
              <a:ext cx="2834640" cy="868681"/>
            </a:xfrm>
            <a:prstGeom prst="roundRect">
              <a:avLst>
                <a:gd name="adj" fmla="val 8000"/>
              </a:avLst>
            </a:prstGeom>
            <a:solidFill>
              <a:srgbClr val="FFFFFF"/>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46" name="Agent keeps talking. No dead air."/>
            <p:cNvSpPr txBox="1"/>
            <p:nvPr/>
          </p:nvSpPr>
          <p:spPr>
            <a:xfrm>
              <a:off x="84362" y="277807"/>
              <a:ext cx="2665916" cy="3130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300">
                  <a:solidFill>
                    <a:srgbClr val="704EA6"/>
                  </a:solidFill>
                  <a:latin typeface="Calibri"/>
                  <a:ea typeface="Calibri"/>
                  <a:cs typeface="Calibri"/>
                  <a:sym typeface="Calibri"/>
                </a:defRPr>
              </a:lvl1pPr>
            </a:lstStyle>
            <a:p>
              <a:pPr/>
              <a:r>
                <a:t>Agent keeps talking. No dead air.</a:t>
              </a:r>
            </a:p>
          </p:txBody>
        </p:sp>
      </p:grpSp>
      <p:grpSp>
        <p:nvGrpSpPr>
          <p:cNvPr id="250" name="Rounded Rectangle 129"/>
          <p:cNvGrpSpPr/>
          <p:nvPr/>
        </p:nvGrpSpPr>
        <p:grpSpPr>
          <a:xfrm>
            <a:off x="2468879" y="3063239"/>
            <a:ext cx="2834641" cy="868681"/>
            <a:chOff x="0" y="0"/>
            <a:chExt cx="2834639" cy="868680"/>
          </a:xfrm>
        </p:grpSpPr>
        <p:sp>
          <p:nvSpPr>
            <p:cNvPr id="248" name="Rounded Rectangle"/>
            <p:cNvSpPr/>
            <p:nvPr/>
          </p:nvSpPr>
          <p:spPr>
            <a:xfrm>
              <a:off x="0" y="0"/>
              <a:ext cx="2834640" cy="868681"/>
            </a:xfrm>
            <a:prstGeom prst="roundRect">
              <a:avLst>
                <a:gd name="adj" fmla="val 8000"/>
              </a:avLst>
            </a:prstGeom>
            <a:solidFill>
              <a:srgbClr val="704EA6"/>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49" name="r1: propose 600 s timer (pending)"/>
            <p:cNvSpPr txBox="1"/>
            <p:nvPr/>
          </p:nvSpPr>
          <p:spPr>
            <a:xfrm>
              <a:off x="84362" y="277807"/>
              <a:ext cx="2665916" cy="3130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300">
                  <a:solidFill>
                    <a:srgbClr val="FFFFFF"/>
                  </a:solidFill>
                  <a:latin typeface="Calibri"/>
                  <a:ea typeface="Calibri"/>
                  <a:cs typeface="Calibri"/>
                  <a:sym typeface="Calibri"/>
                </a:defRPr>
              </a:lvl1pPr>
            </a:lstStyle>
            <a:p>
              <a:pPr/>
              <a:r>
                <a:t>r1: propose 600 s timer (pending)</a:t>
              </a:r>
            </a:p>
          </p:txBody>
        </p:sp>
      </p:grpSp>
      <p:grpSp>
        <p:nvGrpSpPr>
          <p:cNvPr id="253" name="Rounded Rectangle 130"/>
          <p:cNvGrpSpPr/>
          <p:nvPr/>
        </p:nvGrpSpPr>
        <p:grpSpPr>
          <a:xfrm>
            <a:off x="5486400" y="3063239"/>
            <a:ext cx="2834640" cy="868681"/>
            <a:chOff x="0" y="0"/>
            <a:chExt cx="2834639" cy="868680"/>
          </a:xfrm>
        </p:grpSpPr>
        <p:sp>
          <p:nvSpPr>
            <p:cNvPr id="251" name="Rounded Rectangle"/>
            <p:cNvSpPr/>
            <p:nvPr/>
          </p:nvSpPr>
          <p:spPr>
            <a:xfrm>
              <a:off x="0" y="0"/>
              <a:ext cx="2834640" cy="868681"/>
            </a:xfrm>
            <a:prstGeom prst="roundRect">
              <a:avLst>
                <a:gd name="adj" fmla="val 8000"/>
              </a:avLst>
            </a:prstGeom>
            <a:solidFill>
              <a:srgbClr val="E8A33D"/>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52" name="r2 supersedes r1. Cancel 600 s."/>
            <p:cNvSpPr txBox="1"/>
            <p:nvPr/>
          </p:nvSpPr>
          <p:spPr>
            <a:xfrm>
              <a:off x="84362" y="277807"/>
              <a:ext cx="2665916" cy="3130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300">
                  <a:solidFill>
                    <a:srgbClr val="1E1433"/>
                  </a:solidFill>
                  <a:latin typeface="Calibri"/>
                  <a:ea typeface="Calibri"/>
                  <a:cs typeface="Calibri"/>
                  <a:sym typeface="Calibri"/>
                </a:defRPr>
              </a:lvl1pPr>
            </a:lstStyle>
            <a:p>
              <a:pPr/>
              <a:r>
                <a:t>r2 supersedes r1. Cancel 600 s.</a:t>
              </a:r>
            </a:p>
          </p:txBody>
        </p:sp>
      </p:grpSp>
      <p:grpSp>
        <p:nvGrpSpPr>
          <p:cNvPr id="256" name="Rounded Rectangle 131"/>
          <p:cNvGrpSpPr/>
          <p:nvPr/>
        </p:nvGrpSpPr>
        <p:grpSpPr>
          <a:xfrm>
            <a:off x="8503919" y="3063239"/>
            <a:ext cx="2834641" cy="868681"/>
            <a:chOff x="0" y="0"/>
            <a:chExt cx="2834639" cy="868680"/>
          </a:xfrm>
        </p:grpSpPr>
        <p:sp>
          <p:nvSpPr>
            <p:cNvPr id="254" name="Rounded Rectangle"/>
            <p:cNvSpPr/>
            <p:nvPr/>
          </p:nvSpPr>
          <p:spPr>
            <a:xfrm>
              <a:off x="0" y="0"/>
              <a:ext cx="2834640" cy="868681"/>
            </a:xfrm>
            <a:prstGeom prst="roundRect">
              <a:avLst>
                <a:gd name="adj" fmla="val 8000"/>
              </a:avLst>
            </a:prstGeom>
            <a:solidFill>
              <a:srgbClr val="14A38B"/>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55" name="r2: dispatch once, deduplicated"/>
            <p:cNvSpPr txBox="1"/>
            <p:nvPr/>
          </p:nvSpPr>
          <p:spPr>
            <a:xfrm>
              <a:off x="84362" y="277807"/>
              <a:ext cx="2665916" cy="3130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300">
                  <a:solidFill>
                    <a:srgbClr val="FFFFFF"/>
                  </a:solidFill>
                  <a:latin typeface="Calibri"/>
                  <a:ea typeface="Calibri"/>
                  <a:cs typeface="Calibri"/>
                  <a:sym typeface="Calibri"/>
                </a:defRPr>
              </a:lvl1pPr>
            </a:lstStyle>
            <a:p>
              <a:pPr/>
              <a:r>
                <a:t>r2: dispatch once, deduplicated</a:t>
              </a:r>
            </a:p>
          </p:txBody>
        </p:sp>
      </p:grpSp>
      <p:grpSp>
        <p:nvGrpSpPr>
          <p:cNvPr id="259" name="Rounded Rectangle 132"/>
          <p:cNvGrpSpPr/>
          <p:nvPr/>
        </p:nvGrpSpPr>
        <p:grpSpPr>
          <a:xfrm>
            <a:off x="2468879" y="4389120"/>
            <a:ext cx="2834641" cy="868681"/>
            <a:chOff x="0" y="0"/>
            <a:chExt cx="2834639" cy="868680"/>
          </a:xfrm>
        </p:grpSpPr>
        <p:sp>
          <p:nvSpPr>
            <p:cNvPr id="257" name="Rounded Rectangle"/>
            <p:cNvSpPr/>
            <p:nvPr/>
          </p:nvSpPr>
          <p:spPr>
            <a:xfrm>
              <a:off x="0" y="0"/>
              <a:ext cx="2834640" cy="868681"/>
            </a:xfrm>
            <a:prstGeom prst="roundRect">
              <a:avLst>
                <a:gd name="adj" fmla="val 8000"/>
              </a:avLst>
            </a:prstGeom>
            <a:solidFill>
              <a:srgbClr val="FFFFFF"/>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58" name="Nothing dispatched yet"/>
            <p:cNvSpPr txBox="1"/>
            <p:nvPr/>
          </p:nvSpPr>
          <p:spPr>
            <a:xfrm>
              <a:off x="84362" y="277807"/>
              <a:ext cx="2665916" cy="31306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300">
                  <a:solidFill>
                    <a:srgbClr val="5F5A6B"/>
                  </a:solidFill>
                  <a:latin typeface="Calibri"/>
                  <a:ea typeface="Calibri"/>
                  <a:cs typeface="Calibri"/>
                  <a:sym typeface="Calibri"/>
                </a:defRPr>
              </a:lvl1pPr>
            </a:lstStyle>
            <a:p>
              <a:pPr/>
              <a:r>
                <a:t>Nothing dispatched yet</a:t>
              </a:r>
            </a:p>
          </p:txBody>
        </p:sp>
      </p:grpSp>
      <p:grpSp>
        <p:nvGrpSpPr>
          <p:cNvPr id="262" name="Rounded Rectangle 133"/>
          <p:cNvGrpSpPr/>
          <p:nvPr/>
        </p:nvGrpSpPr>
        <p:grpSpPr>
          <a:xfrm>
            <a:off x="5486400" y="4389120"/>
            <a:ext cx="2834640" cy="868681"/>
            <a:chOff x="0" y="0"/>
            <a:chExt cx="2834639" cy="868680"/>
          </a:xfrm>
        </p:grpSpPr>
        <p:sp>
          <p:nvSpPr>
            <p:cNvPr id="260" name="Rounded Rectangle"/>
            <p:cNvSpPr/>
            <p:nvPr/>
          </p:nvSpPr>
          <p:spPr>
            <a:xfrm>
              <a:off x="0" y="0"/>
              <a:ext cx="2834640" cy="868681"/>
            </a:xfrm>
            <a:prstGeom prst="roundRect">
              <a:avLst>
                <a:gd name="adj" fmla="val 8000"/>
              </a:avLst>
            </a:prstGeom>
            <a:solidFill>
              <a:srgbClr val="D64550"/>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61" name="600 s timer dropped ✕"/>
            <p:cNvSpPr txBox="1"/>
            <p:nvPr/>
          </p:nvSpPr>
          <p:spPr>
            <a:xfrm>
              <a:off x="84362" y="272591"/>
              <a:ext cx="2665916" cy="32349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p>
              <a:pPr algn="ctr">
                <a:defRPr b="1" sz="1300">
                  <a:solidFill>
                    <a:srgbClr val="FFFFFF"/>
                  </a:solidFill>
                  <a:latin typeface="Calibri"/>
                  <a:ea typeface="Calibri"/>
                  <a:cs typeface="Calibri"/>
                  <a:sym typeface="Calibri"/>
                </a:defRPr>
              </a:pPr>
              <a:r>
                <a:t>600 s timer dropped </a:t>
              </a:r>
              <a:r>
                <a:rPr>
                  <a:latin typeface="+mj-lt"/>
                  <a:ea typeface="+mj-ea"/>
                  <a:cs typeface="+mj-cs"/>
                  <a:sym typeface="Helvetica"/>
                </a:rPr>
                <a:t>✕</a:t>
              </a:r>
            </a:p>
          </p:txBody>
        </p:sp>
      </p:grpSp>
      <p:grpSp>
        <p:nvGrpSpPr>
          <p:cNvPr id="265" name="Rounded Rectangle 134"/>
          <p:cNvGrpSpPr/>
          <p:nvPr/>
        </p:nvGrpSpPr>
        <p:grpSpPr>
          <a:xfrm>
            <a:off x="8503919" y="4389120"/>
            <a:ext cx="2834641" cy="868681"/>
            <a:chOff x="0" y="0"/>
            <a:chExt cx="2834639" cy="868680"/>
          </a:xfrm>
        </p:grpSpPr>
        <p:sp>
          <p:nvSpPr>
            <p:cNvPr id="263" name="Rounded Rectangle"/>
            <p:cNvSpPr/>
            <p:nvPr/>
          </p:nvSpPr>
          <p:spPr>
            <a:xfrm>
              <a:off x="0" y="0"/>
              <a:ext cx="2834640" cy="868681"/>
            </a:xfrm>
            <a:prstGeom prst="roundRect">
              <a:avLst>
                <a:gd name="adj" fmla="val 8000"/>
              </a:avLst>
            </a:prstGeom>
            <a:solidFill>
              <a:srgbClr val="14A38B"/>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64" name="create_timer 420 s ✓"/>
            <p:cNvSpPr txBox="1"/>
            <p:nvPr/>
          </p:nvSpPr>
          <p:spPr>
            <a:xfrm>
              <a:off x="84362" y="256363"/>
              <a:ext cx="2665916" cy="3559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p>
              <a:pPr algn="ctr">
                <a:defRPr b="1" sz="1300">
                  <a:solidFill>
                    <a:srgbClr val="FFFFFF"/>
                  </a:solidFill>
                  <a:latin typeface="Calibri"/>
                  <a:ea typeface="Calibri"/>
                  <a:cs typeface="Calibri"/>
                  <a:sym typeface="Calibri"/>
                </a:defRPr>
              </a:pPr>
              <a:r>
                <a:t>create_timer 420 s </a:t>
              </a:r>
              <a:r>
                <a:rPr>
                  <a:latin typeface="+mj-lt"/>
                  <a:ea typeface="+mj-ea"/>
                  <a:cs typeface="+mj-cs"/>
                  <a:sym typeface="Helvetica"/>
                </a:rPr>
                <a:t>✓</a:t>
              </a:r>
            </a:p>
          </p:txBody>
        </p:sp>
      </p:grpSp>
      <p:sp>
        <p:nvSpPr>
          <p:cNvPr id="266" name="Connector 135"/>
          <p:cNvSpPr/>
          <p:nvPr/>
        </p:nvSpPr>
        <p:spPr>
          <a:xfrm>
            <a:off x="5303520" y="3364991"/>
            <a:ext cx="182881" cy="1"/>
          </a:xfrm>
          <a:prstGeom prst="line">
            <a:avLst/>
          </a:prstGeom>
          <a:ln w="28575">
            <a:solidFill>
              <a:srgbClr val="704EA6"/>
            </a:solidFill>
            <a:tailEnd type="triangle"/>
          </a:ln>
          <a:effectLst>
            <a:outerShdw sx="100000" sy="100000" kx="0" ky="0" algn="b" rotWithShape="0" blurRad="38100" dist="20000" dir="5400000">
              <a:srgbClr val="000000">
                <a:alpha val="38000"/>
              </a:srgbClr>
            </a:outerShdw>
          </a:effectLst>
        </p:spPr>
        <p:txBody>
          <a:bodyPr lIns="0" tIns="0" rIns="0" bIns="0"/>
          <a:lstStyle/>
          <a:p>
            <a:pPr/>
          </a:p>
        </p:txBody>
      </p:sp>
      <p:sp>
        <p:nvSpPr>
          <p:cNvPr id="267" name="Connector 136"/>
          <p:cNvSpPr/>
          <p:nvPr/>
        </p:nvSpPr>
        <p:spPr>
          <a:xfrm>
            <a:off x="8321040" y="3364991"/>
            <a:ext cx="182881" cy="1"/>
          </a:xfrm>
          <a:prstGeom prst="line">
            <a:avLst/>
          </a:prstGeom>
          <a:ln w="28575">
            <a:solidFill>
              <a:srgbClr val="704EA6"/>
            </a:solidFill>
            <a:tailEnd type="triangle"/>
          </a:ln>
          <a:effectLst>
            <a:outerShdw sx="100000" sy="100000" kx="0" ky="0" algn="b" rotWithShape="0" blurRad="38100" dist="20000" dir="5400000">
              <a:srgbClr val="000000">
                <a:alpha val="38000"/>
              </a:srgbClr>
            </a:outerShdw>
          </a:effectLst>
        </p:spPr>
        <p:txBody>
          <a:bodyPr lIns="0" tIns="0" rIns="0" bIns="0"/>
          <a:lstStyle/>
          <a:p>
            <a:pPr/>
          </a:p>
        </p:txBody>
      </p:sp>
      <p:sp>
        <p:nvSpPr>
          <p:cNvPr id="268" name="Connector 137"/>
          <p:cNvSpPr/>
          <p:nvPr/>
        </p:nvSpPr>
        <p:spPr>
          <a:xfrm>
            <a:off x="3886200" y="2651760"/>
            <a:ext cx="0" cy="411481"/>
          </a:xfrm>
          <a:prstGeom prst="line">
            <a:avLst/>
          </a:prstGeom>
          <a:ln w="28575">
            <a:solidFill>
              <a:srgbClr val="5F5A6B"/>
            </a:solidFill>
            <a:tailEnd type="triangle"/>
          </a:ln>
          <a:effectLst>
            <a:outerShdw sx="100000" sy="100000" kx="0" ky="0" algn="b" rotWithShape="0" blurRad="38100" dist="20000" dir="5400000">
              <a:srgbClr val="000000">
                <a:alpha val="38000"/>
              </a:srgbClr>
            </a:outerShdw>
          </a:effectLst>
        </p:spPr>
        <p:txBody>
          <a:bodyPr lIns="0" tIns="0" rIns="0" bIns="0"/>
          <a:lstStyle/>
          <a:p>
            <a:pPr/>
          </a:p>
        </p:txBody>
      </p:sp>
      <p:grpSp>
        <p:nvGrpSpPr>
          <p:cNvPr id="271" name="Rounded Rectangle 138"/>
          <p:cNvGrpSpPr/>
          <p:nvPr/>
        </p:nvGrpSpPr>
        <p:grpSpPr>
          <a:xfrm>
            <a:off x="640080" y="5623559"/>
            <a:ext cx="10881360" cy="640081"/>
            <a:chOff x="0" y="0"/>
            <a:chExt cx="10881359" cy="640080"/>
          </a:xfrm>
        </p:grpSpPr>
        <p:sp>
          <p:nvSpPr>
            <p:cNvPr id="269" name="Rounded Rectangle"/>
            <p:cNvSpPr/>
            <p:nvPr/>
          </p:nvSpPr>
          <p:spPr>
            <a:xfrm>
              <a:off x="0" y="0"/>
              <a:ext cx="10881360" cy="640081"/>
            </a:xfrm>
            <a:prstGeom prst="roundRect">
              <a:avLst>
                <a:gd name="adj" fmla="val 8000"/>
              </a:avLst>
            </a:prstGeom>
            <a:solidFill>
              <a:srgbClr val="1E1433"/>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70" name="Result: exactly one 420 s timer. No duplicate IDs. No orphaned tasks.   Run it:  python -m reactor.demo"/>
            <p:cNvSpPr txBox="1"/>
            <p:nvPr/>
          </p:nvSpPr>
          <p:spPr>
            <a:xfrm>
              <a:off x="79005" y="153609"/>
              <a:ext cx="10723350" cy="3328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500">
                  <a:solidFill>
                    <a:srgbClr val="FFFFFF"/>
                  </a:solidFill>
                  <a:latin typeface="Calibri"/>
                  <a:ea typeface="Calibri"/>
                  <a:cs typeface="Calibri"/>
                  <a:sym typeface="Calibri"/>
                </a:defRPr>
              </a:lvl1pPr>
            </a:lstStyle>
            <a:p>
              <a:pPr/>
              <a:r>
                <a:t>Result: exactly one 420 s timer. No duplicate IDs. No orphaned tasks.   Run it:  python -m reactor.demo</a:t>
              </a:r>
            </a:p>
          </p:txBody>
        </p:sp>
      </p:gr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5" name="Google Shape;125;p6"/>
          <p:cNvSpPr txBox="1"/>
          <p:nvPr>
            <p:ph type="title"/>
          </p:nvPr>
        </p:nvSpPr>
        <p:spPr>
          <a:xfrm>
            <a:off x="640080" y="566927"/>
            <a:ext cx="10881360" cy="777241"/>
          </a:xfrm>
          <a:prstGeom prst="rect">
            <a:avLst/>
          </a:prstGeom>
        </p:spPr>
        <p:txBody>
          <a:bodyPr/>
          <a:lstStyle>
            <a:lvl1pPr>
              <a:defRPr b="1" sz="3200">
                <a:solidFill>
                  <a:srgbClr val="704EA6"/>
                </a:solidFill>
              </a:defRPr>
            </a:lvl1pPr>
          </a:lstStyle>
          <a:p>
            <a:pPr/>
            <a:r>
              <a:t>Four layers, each doing one job</a:t>
            </a:r>
          </a:p>
        </p:txBody>
      </p:sp>
      <p:sp>
        <p:nvSpPr>
          <p:cNvPr id="276" name="TextBox 125"/>
          <p:cNvSpPr txBox="1"/>
          <p:nvPr/>
        </p:nvSpPr>
        <p:spPr>
          <a:xfrm>
            <a:off x="658368" y="320040"/>
            <a:ext cx="7278625" cy="189132"/>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b="1" sz="1100">
                <a:solidFill>
                  <a:srgbClr val="14A38B"/>
                </a:solidFill>
                <a:latin typeface="Calibri"/>
                <a:ea typeface="Calibri"/>
                <a:cs typeface="Calibri"/>
                <a:sym typeface="Calibri"/>
              </a:defRPr>
            </a:lvl1pPr>
          </a:lstStyle>
          <a:p>
            <a:pPr/>
            <a:r>
              <a:t>TOOLS &amp; TECH STACK</a:t>
            </a:r>
          </a:p>
        </p:txBody>
      </p:sp>
      <p:grpSp>
        <p:nvGrpSpPr>
          <p:cNvPr id="279" name="Rounded Rectangle 126"/>
          <p:cNvGrpSpPr/>
          <p:nvPr/>
        </p:nvGrpSpPr>
        <p:grpSpPr>
          <a:xfrm>
            <a:off x="640080" y="1600200"/>
            <a:ext cx="2286001" cy="1005840"/>
            <a:chOff x="0" y="0"/>
            <a:chExt cx="2286000" cy="1005839"/>
          </a:xfrm>
        </p:grpSpPr>
        <p:sp>
          <p:nvSpPr>
            <p:cNvPr id="277" name="Rounded Rectangle"/>
            <p:cNvSpPr/>
            <p:nvPr/>
          </p:nvSpPr>
          <p:spPr>
            <a:xfrm>
              <a:off x="0" y="0"/>
              <a:ext cx="2286000" cy="1005840"/>
            </a:xfrm>
            <a:prstGeom prst="roundRect">
              <a:avLst>
                <a:gd name="adj" fmla="val 8000"/>
              </a:avLst>
            </a:prstGeom>
            <a:solidFill>
              <a:srgbClr val="704EA6"/>
            </a:solidFill>
            <a:ln w="12700" cap="flat">
              <a:noFill/>
              <a:miter lim="400000"/>
            </a:ln>
            <a:effectLst/>
          </p:spPr>
          <p:txBody>
            <a:bodyPr wrap="square" lIns="0" tIns="0" rIns="0" bIns="0" numCol="1" anchor="ctr">
              <a:noAutofit/>
            </a:bodyPr>
            <a:lstStyle/>
            <a:p>
              <a:pPr>
                <a:defRPr>
                  <a:solidFill>
                    <a:srgbClr val="FFFFFF"/>
                  </a:solidFill>
                </a:defRPr>
              </a:pPr>
            </a:p>
          </p:txBody>
        </p:sp>
        <p:sp>
          <p:nvSpPr>
            <p:cNvPr id="278" name="Voice transport"/>
            <p:cNvSpPr txBox="1"/>
            <p:nvPr/>
          </p:nvSpPr>
          <p:spPr>
            <a:xfrm>
              <a:off x="87575" y="320242"/>
              <a:ext cx="2110850" cy="3653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defRPr b="1" sz="1700">
                  <a:solidFill>
                    <a:srgbClr val="FFFFFF"/>
                  </a:solidFill>
                  <a:latin typeface="Calibri"/>
                  <a:ea typeface="Calibri"/>
                  <a:cs typeface="Calibri"/>
                  <a:sym typeface="Calibri"/>
                </a:defRPr>
              </a:lvl1pPr>
            </a:lstStyle>
            <a:p>
              <a:pPr/>
              <a:r>
                <a:t>Voice transport</a:t>
              </a:r>
            </a:p>
          </p:txBody>
        </p:sp>
      </p:grpSp>
      <p:grpSp>
        <p:nvGrpSpPr>
          <p:cNvPr id="282" name="Rounded Rectangle 127"/>
          <p:cNvGrpSpPr/>
          <p:nvPr/>
        </p:nvGrpSpPr>
        <p:grpSpPr>
          <a:xfrm>
            <a:off x="3200400" y="1600200"/>
            <a:ext cx="4046221" cy="1005840"/>
            <a:chOff x="0" y="0"/>
            <a:chExt cx="4046220" cy="1005839"/>
          </a:xfrm>
        </p:grpSpPr>
        <p:sp>
          <p:nvSpPr>
            <p:cNvPr id="280" name="Rounded Rectangle"/>
            <p:cNvSpPr/>
            <p:nvPr/>
          </p:nvSpPr>
          <p:spPr>
            <a:xfrm>
              <a:off x="0" y="0"/>
              <a:ext cx="4046221" cy="1005840"/>
            </a:xfrm>
            <a:prstGeom prst="roundRect">
              <a:avLst>
                <a:gd name="adj" fmla="val 8000"/>
              </a:avLst>
            </a:prstGeom>
            <a:solidFill>
              <a:srgbClr val="EFE9F8"/>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81" name="LiveKit Agents 1.3.12"/>
            <p:cNvSpPr txBox="1"/>
            <p:nvPr/>
          </p:nvSpPr>
          <p:spPr>
            <a:xfrm>
              <a:off x="87575" y="335088"/>
              <a:ext cx="3871070" cy="3356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a:solidFill>
                    <a:srgbClr val="1E1433"/>
                  </a:solidFill>
                  <a:latin typeface="Calibri"/>
                  <a:ea typeface="Calibri"/>
                  <a:cs typeface="Calibri"/>
                  <a:sym typeface="Calibri"/>
                </a:defRPr>
              </a:lvl1pPr>
            </a:lstStyle>
            <a:p>
              <a:pPr/>
              <a:r>
                <a:t>LiveKit Agents 1.3.12</a:t>
              </a:r>
            </a:p>
          </p:txBody>
        </p:sp>
      </p:grpSp>
      <p:grpSp>
        <p:nvGrpSpPr>
          <p:cNvPr id="285" name="Rounded Rectangle 128"/>
          <p:cNvGrpSpPr/>
          <p:nvPr/>
        </p:nvGrpSpPr>
        <p:grpSpPr>
          <a:xfrm>
            <a:off x="7475219" y="1600200"/>
            <a:ext cx="4046221" cy="1005840"/>
            <a:chOff x="0" y="0"/>
            <a:chExt cx="4046220" cy="1005839"/>
          </a:xfrm>
        </p:grpSpPr>
        <p:sp>
          <p:nvSpPr>
            <p:cNvPr id="283" name="Rounded Rectangle"/>
            <p:cNvSpPr/>
            <p:nvPr/>
          </p:nvSpPr>
          <p:spPr>
            <a:xfrm>
              <a:off x="0" y="0"/>
              <a:ext cx="4046221" cy="1005840"/>
            </a:xfrm>
            <a:prstGeom prst="roundRect">
              <a:avLst>
                <a:gd name="adj" fmla="val 8000"/>
              </a:avLst>
            </a:prstGeom>
            <a:solidFill>
              <a:srgbClr val="EFE9F8"/>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84" name="WebRTC · barge-in · echo cancel"/>
            <p:cNvSpPr txBox="1"/>
            <p:nvPr/>
          </p:nvSpPr>
          <p:spPr>
            <a:xfrm>
              <a:off x="87575" y="335088"/>
              <a:ext cx="3871070" cy="3356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a:solidFill>
                    <a:srgbClr val="1E1433"/>
                  </a:solidFill>
                  <a:latin typeface="Calibri"/>
                  <a:ea typeface="Calibri"/>
                  <a:cs typeface="Calibri"/>
                  <a:sym typeface="Calibri"/>
                </a:defRPr>
              </a:lvl1pPr>
            </a:lstStyle>
            <a:p>
              <a:pPr/>
              <a:r>
                <a:t>WebRTC · barge-in · echo cancel</a:t>
              </a:r>
            </a:p>
          </p:txBody>
        </p:sp>
      </p:grpSp>
      <p:grpSp>
        <p:nvGrpSpPr>
          <p:cNvPr id="288" name="Rounded Rectangle 129"/>
          <p:cNvGrpSpPr/>
          <p:nvPr/>
        </p:nvGrpSpPr>
        <p:grpSpPr>
          <a:xfrm>
            <a:off x="640080" y="2770632"/>
            <a:ext cx="2286001" cy="1005841"/>
            <a:chOff x="0" y="0"/>
            <a:chExt cx="2286000" cy="1005839"/>
          </a:xfrm>
        </p:grpSpPr>
        <p:sp>
          <p:nvSpPr>
            <p:cNvPr id="286" name="Rounded Rectangle"/>
            <p:cNvSpPr/>
            <p:nvPr/>
          </p:nvSpPr>
          <p:spPr>
            <a:xfrm>
              <a:off x="0" y="0"/>
              <a:ext cx="2286000" cy="1005840"/>
            </a:xfrm>
            <a:prstGeom prst="roundRect">
              <a:avLst>
                <a:gd name="adj" fmla="val 8000"/>
              </a:avLst>
            </a:prstGeom>
            <a:solidFill>
              <a:srgbClr val="704EA6"/>
            </a:solidFill>
            <a:ln w="12700" cap="flat">
              <a:noFill/>
              <a:miter lim="400000"/>
            </a:ln>
            <a:effectLst/>
          </p:spPr>
          <p:txBody>
            <a:bodyPr wrap="square" lIns="0" tIns="0" rIns="0" bIns="0" numCol="1" anchor="ctr">
              <a:noAutofit/>
            </a:bodyPr>
            <a:lstStyle/>
            <a:p>
              <a:pPr>
                <a:defRPr>
                  <a:solidFill>
                    <a:srgbClr val="FFFFFF"/>
                  </a:solidFill>
                </a:defRPr>
              </a:pPr>
            </a:p>
          </p:txBody>
        </p:sp>
        <p:sp>
          <p:nvSpPr>
            <p:cNvPr id="287" name="Realtime model"/>
            <p:cNvSpPr txBox="1"/>
            <p:nvPr/>
          </p:nvSpPr>
          <p:spPr>
            <a:xfrm>
              <a:off x="87575" y="320242"/>
              <a:ext cx="2110850" cy="3653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defRPr b="1" sz="1700">
                  <a:solidFill>
                    <a:srgbClr val="FFFFFF"/>
                  </a:solidFill>
                  <a:latin typeface="Calibri"/>
                  <a:ea typeface="Calibri"/>
                  <a:cs typeface="Calibri"/>
                  <a:sym typeface="Calibri"/>
                </a:defRPr>
              </a:lvl1pPr>
            </a:lstStyle>
            <a:p>
              <a:pPr/>
              <a:r>
                <a:t>Realtime model</a:t>
              </a:r>
            </a:p>
          </p:txBody>
        </p:sp>
      </p:grpSp>
      <p:grpSp>
        <p:nvGrpSpPr>
          <p:cNvPr id="291" name="Rounded Rectangle 130"/>
          <p:cNvGrpSpPr/>
          <p:nvPr/>
        </p:nvGrpSpPr>
        <p:grpSpPr>
          <a:xfrm>
            <a:off x="3200400" y="2770632"/>
            <a:ext cx="4046221" cy="1005841"/>
            <a:chOff x="0" y="0"/>
            <a:chExt cx="4046220" cy="1005839"/>
          </a:xfrm>
        </p:grpSpPr>
        <p:sp>
          <p:nvSpPr>
            <p:cNvPr id="289" name="Rounded Rectangle"/>
            <p:cNvSpPr/>
            <p:nvPr/>
          </p:nvSpPr>
          <p:spPr>
            <a:xfrm>
              <a:off x="0" y="0"/>
              <a:ext cx="4046221" cy="1005840"/>
            </a:xfrm>
            <a:prstGeom prst="roundRect">
              <a:avLst>
                <a:gd name="adj" fmla="val 8000"/>
              </a:avLst>
            </a:prstGeom>
            <a:solidFill>
              <a:srgbClr val="EFE9F8"/>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90" name="Gemini Live"/>
            <p:cNvSpPr txBox="1"/>
            <p:nvPr/>
          </p:nvSpPr>
          <p:spPr>
            <a:xfrm>
              <a:off x="87575" y="335088"/>
              <a:ext cx="3871070" cy="3356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a:solidFill>
                    <a:srgbClr val="1E1433"/>
                  </a:solidFill>
                  <a:latin typeface="Calibri"/>
                  <a:ea typeface="Calibri"/>
                  <a:cs typeface="Calibri"/>
                  <a:sym typeface="Calibri"/>
                </a:defRPr>
              </a:lvl1pPr>
            </a:lstStyle>
            <a:p>
              <a:pPr/>
              <a:r>
                <a:t>Gemini Live</a:t>
              </a:r>
            </a:p>
          </p:txBody>
        </p:sp>
      </p:grpSp>
      <p:grpSp>
        <p:nvGrpSpPr>
          <p:cNvPr id="294" name="Rounded Rectangle 131"/>
          <p:cNvGrpSpPr/>
          <p:nvPr/>
        </p:nvGrpSpPr>
        <p:grpSpPr>
          <a:xfrm>
            <a:off x="7475219" y="2770632"/>
            <a:ext cx="4046221" cy="1005841"/>
            <a:chOff x="0" y="0"/>
            <a:chExt cx="4046220" cy="1005839"/>
          </a:xfrm>
        </p:grpSpPr>
        <p:sp>
          <p:nvSpPr>
            <p:cNvPr id="292" name="Rounded Rectangle"/>
            <p:cNvSpPr/>
            <p:nvPr/>
          </p:nvSpPr>
          <p:spPr>
            <a:xfrm>
              <a:off x="0" y="0"/>
              <a:ext cx="4046221" cy="1005840"/>
            </a:xfrm>
            <a:prstGeom prst="roundRect">
              <a:avLst>
                <a:gd name="adj" fmla="val 8000"/>
              </a:avLst>
            </a:prstGeom>
            <a:solidFill>
              <a:srgbClr val="EFE9F8"/>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93" name="gemini-2.5-flash · speech in, speech out"/>
            <p:cNvSpPr txBox="1"/>
            <p:nvPr/>
          </p:nvSpPr>
          <p:spPr>
            <a:xfrm>
              <a:off x="87575" y="335088"/>
              <a:ext cx="3871070" cy="3356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a:solidFill>
                    <a:srgbClr val="1E1433"/>
                  </a:solidFill>
                  <a:latin typeface="Calibri"/>
                  <a:ea typeface="Calibri"/>
                  <a:cs typeface="Calibri"/>
                  <a:sym typeface="Calibri"/>
                </a:defRPr>
              </a:lvl1pPr>
            </a:lstStyle>
            <a:p>
              <a:pPr/>
              <a:r>
                <a:t>gemini-2.5-flash · speech in, speech out</a:t>
              </a:r>
            </a:p>
          </p:txBody>
        </p:sp>
      </p:grpSp>
      <p:grpSp>
        <p:nvGrpSpPr>
          <p:cNvPr id="297" name="Rounded Rectangle 132"/>
          <p:cNvGrpSpPr/>
          <p:nvPr/>
        </p:nvGrpSpPr>
        <p:grpSpPr>
          <a:xfrm>
            <a:off x="640080" y="3941064"/>
            <a:ext cx="2286001" cy="1005841"/>
            <a:chOff x="0" y="0"/>
            <a:chExt cx="2286000" cy="1005839"/>
          </a:xfrm>
        </p:grpSpPr>
        <p:sp>
          <p:nvSpPr>
            <p:cNvPr id="295" name="Rounded Rectangle"/>
            <p:cNvSpPr/>
            <p:nvPr/>
          </p:nvSpPr>
          <p:spPr>
            <a:xfrm>
              <a:off x="0" y="0"/>
              <a:ext cx="2286000" cy="1005840"/>
            </a:xfrm>
            <a:prstGeom prst="roundRect">
              <a:avLst>
                <a:gd name="adj" fmla="val 8000"/>
              </a:avLst>
            </a:prstGeom>
            <a:solidFill>
              <a:srgbClr val="704EA6"/>
            </a:solidFill>
            <a:ln w="12700" cap="flat">
              <a:noFill/>
              <a:miter lim="400000"/>
            </a:ln>
            <a:effectLst/>
          </p:spPr>
          <p:txBody>
            <a:bodyPr wrap="square" lIns="0" tIns="0" rIns="0" bIns="0" numCol="1" anchor="ctr">
              <a:noAutofit/>
            </a:bodyPr>
            <a:lstStyle/>
            <a:p>
              <a:pPr>
                <a:defRPr>
                  <a:solidFill>
                    <a:srgbClr val="FFFFFF"/>
                  </a:solidFill>
                </a:defRPr>
              </a:pPr>
            </a:p>
          </p:txBody>
        </p:sp>
        <p:sp>
          <p:nvSpPr>
            <p:cNvPr id="296" name="Execution core"/>
            <p:cNvSpPr txBox="1"/>
            <p:nvPr/>
          </p:nvSpPr>
          <p:spPr>
            <a:xfrm>
              <a:off x="87575" y="320242"/>
              <a:ext cx="2110850" cy="3653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defRPr b="1" sz="1700">
                  <a:solidFill>
                    <a:srgbClr val="FFFFFF"/>
                  </a:solidFill>
                  <a:latin typeface="Calibri"/>
                  <a:ea typeface="Calibri"/>
                  <a:cs typeface="Calibri"/>
                  <a:sym typeface="Calibri"/>
                </a:defRPr>
              </a:lvl1pPr>
            </a:lstStyle>
            <a:p>
              <a:pPr/>
              <a:r>
                <a:t>Execution core</a:t>
              </a:r>
            </a:p>
          </p:txBody>
        </p:sp>
      </p:grpSp>
      <p:grpSp>
        <p:nvGrpSpPr>
          <p:cNvPr id="300" name="Rounded Rectangle 133"/>
          <p:cNvGrpSpPr/>
          <p:nvPr/>
        </p:nvGrpSpPr>
        <p:grpSpPr>
          <a:xfrm>
            <a:off x="3200400" y="3941064"/>
            <a:ext cx="2621280" cy="1005841"/>
            <a:chOff x="0" y="0"/>
            <a:chExt cx="2621279" cy="1005839"/>
          </a:xfrm>
        </p:grpSpPr>
        <p:sp>
          <p:nvSpPr>
            <p:cNvPr id="298" name="Rounded Rectangle"/>
            <p:cNvSpPr/>
            <p:nvPr/>
          </p:nvSpPr>
          <p:spPr>
            <a:xfrm>
              <a:off x="0" y="0"/>
              <a:ext cx="2621280" cy="1005840"/>
            </a:xfrm>
            <a:prstGeom prst="roundRect">
              <a:avLst>
                <a:gd name="adj" fmla="val 8000"/>
              </a:avLst>
            </a:prstGeom>
            <a:solidFill>
              <a:srgbClr val="EFE9F8"/>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299" name="Python asyncio"/>
            <p:cNvSpPr txBox="1"/>
            <p:nvPr/>
          </p:nvSpPr>
          <p:spPr>
            <a:xfrm>
              <a:off x="87575" y="335088"/>
              <a:ext cx="2446130" cy="3356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a:solidFill>
                    <a:srgbClr val="1E1433"/>
                  </a:solidFill>
                  <a:latin typeface="Calibri"/>
                  <a:ea typeface="Calibri"/>
                  <a:cs typeface="Calibri"/>
                  <a:sym typeface="Calibri"/>
                </a:defRPr>
              </a:lvl1pPr>
            </a:lstStyle>
            <a:p>
              <a:pPr/>
              <a:r>
                <a:t>Python asyncio</a:t>
              </a:r>
            </a:p>
          </p:txBody>
        </p:sp>
      </p:grpSp>
      <p:grpSp>
        <p:nvGrpSpPr>
          <p:cNvPr id="303" name="Rounded Rectangle 134"/>
          <p:cNvGrpSpPr/>
          <p:nvPr/>
        </p:nvGrpSpPr>
        <p:grpSpPr>
          <a:xfrm>
            <a:off x="6050279" y="3941064"/>
            <a:ext cx="2621281" cy="1005841"/>
            <a:chOff x="0" y="0"/>
            <a:chExt cx="2621279" cy="1005839"/>
          </a:xfrm>
        </p:grpSpPr>
        <p:sp>
          <p:nvSpPr>
            <p:cNvPr id="301" name="Rounded Rectangle"/>
            <p:cNvSpPr/>
            <p:nvPr/>
          </p:nvSpPr>
          <p:spPr>
            <a:xfrm>
              <a:off x="0" y="0"/>
              <a:ext cx="2621280" cy="1005840"/>
            </a:xfrm>
            <a:prstGeom prst="roundRect">
              <a:avLst>
                <a:gd name="adj" fmla="val 8000"/>
              </a:avLst>
            </a:prstGeom>
            <a:solidFill>
              <a:srgbClr val="EFE9F8"/>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302" name="jsonschema 4.26.0"/>
            <p:cNvSpPr txBox="1"/>
            <p:nvPr/>
          </p:nvSpPr>
          <p:spPr>
            <a:xfrm>
              <a:off x="87575" y="335088"/>
              <a:ext cx="2446130" cy="3356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a:solidFill>
                    <a:srgbClr val="1E1433"/>
                  </a:solidFill>
                  <a:latin typeface="Calibri"/>
                  <a:ea typeface="Calibri"/>
                  <a:cs typeface="Calibri"/>
                  <a:sym typeface="Calibri"/>
                </a:defRPr>
              </a:lvl1pPr>
            </a:lstStyle>
            <a:p>
              <a:pPr/>
              <a:r>
                <a:t>jsonschema 4.26.0</a:t>
              </a:r>
            </a:p>
          </p:txBody>
        </p:sp>
      </p:grpSp>
      <p:grpSp>
        <p:nvGrpSpPr>
          <p:cNvPr id="306" name="Rounded Rectangle 135"/>
          <p:cNvGrpSpPr/>
          <p:nvPr/>
        </p:nvGrpSpPr>
        <p:grpSpPr>
          <a:xfrm>
            <a:off x="8900159" y="3941064"/>
            <a:ext cx="2621281" cy="1005841"/>
            <a:chOff x="0" y="0"/>
            <a:chExt cx="2621279" cy="1005839"/>
          </a:xfrm>
        </p:grpSpPr>
        <p:sp>
          <p:nvSpPr>
            <p:cNvPr id="304" name="Rounded Rectangle"/>
            <p:cNvSpPr/>
            <p:nvPr/>
          </p:nvSpPr>
          <p:spPr>
            <a:xfrm>
              <a:off x="0" y="0"/>
              <a:ext cx="2621280" cy="1005840"/>
            </a:xfrm>
            <a:prstGeom prst="roundRect">
              <a:avLst>
                <a:gd name="adj" fmla="val 8000"/>
              </a:avLst>
            </a:prstGeom>
            <a:solidFill>
              <a:srgbClr val="EFE9F8"/>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305" name="python-dotenv 1.2.3"/>
            <p:cNvSpPr txBox="1"/>
            <p:nvPr/>
          </p:nvSpPr>
          <p:spPr>
            <a:xfrm>
              <a:off x="87575" y="335088"/>
              <a:ext cx="2446130" cy="3356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a:solidFill>
                    <a:srgbClr val="1E1433"/>
                  </a:solidFill>
                  <a:latin typeface="Calibri"/>
                  <a:ea typeface="Calibri"/>
                  <a:cs typeface="Calibri"/>
                  <a:sym typeface="Calibri"/>
                </a:defRPr>
              </a:lvl1pPr>
            </a:lstStyle>
            <a:p>
              <a:pPr/>
              <a:r>
                <a:t>python-dotenv 1.2.3</a:t>
              </a:r>
            </a:p>
          </p:txBody>
        </p:sp>
      </p:grpSp>
      <p:grpSp>
        <p:nvGrpSpPr>
          <p:cNvPr id="309" name="Rounded Rectangle 136"/>
          <p:cNvGrpSpPr/>
          <p:nvPr/>
        </p:nvGrpSpPr>
        <p:grpSpPr>
          <a:xfrm>
            <a:off x="640080" y="5111496"/>
            <a:ext cx="2286001" cy="1005841"/>
            <a:chOff x="0" y="0"/>
            <a:chExt cx="2286000" cy="1005839"/>
          </a:xfrm>
        </p:grpSpPr>
        <p:sp>
          <p:nvSpPr>
            <p:cNvPr id="307" name="Rounded Rectangle"/>
            <p:cNvSpPr/>
            <p:nvPr/>
          </p:nvSpPr>
          <p:spPr>
            <a:xfrm>
              <a:off x="0" y="0"/>
              <a:ext cx="2286000" cy="1005840"/>
            </a:xfrm>
            <a:prstGeom prst="roundRect">
              <a:avLst>
                <a:gd name="adj" fmla="val 8000"/>
              </a:avLst>
            </a:prstGeom>
            <a:solidFill>
              <a:srgbClr val="704EA6"/>
            </a:solidFill>
            <a:ln w="12700" cap="flat">
              <a:noFill/>
              <a:miter lim="400000"/>
            </a:ln>
            <a:effectLst/>
          </p:spPr>
          <p:txBody>
            <a:bodyPr wrap="square" lIns="0" tIns="0" rIns="0" bIns="0" numCol="1" anchor="ctr">
              <a:noAutofit/>
            </a:bodyPr>
            <a:lstStyle/>
            <a:p>
              <a:pPr>
                <a:defRPr>
                  <a:solidFill>
                    <a:srgbClr val="FFFFFF"/>
                  </a:solidFill>
                </a:defRPr>
              </a:pPr>
            </a:p>
          </p:txBody>
        </p:sp>
        <p:sp>
          <p:nvSpPr>
            <p:cNvPr id="308" name="Evaluation"/>
            <p:cNvSpPr txBox="1"/>
            <p:nvPr/>
          </p:nvSpPr>
          <p:spPr>
            <a:xfrm>
              <a:off x="87575" y="320242"/>
              <a:ext cx="2110850" cy="36535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defRPr b="1" sz="1700">
                  <a:solidFill>
                    <a:srgbClr val="FFFFFF"/>
                  </a:solidFill>
                  <a:latin typeface="Calibri"/>
                  <a:ea typeface="Calibri"/>
                  <a:cs typeface="Calibri"/>
                  <a:sym typeface="Calibri"/>
                </a:defRPr>
              </a:lvl1pPr>
            </a:lstStyle>
            <a:p>
              <a:pPr/>
              <a:r>
                <a:t>Evaluation</a:t>
              </a:r>
            </a:p>
          </p:txBody>
        </p:sp>
      </p:grpSp>
      <p:grpSp>
        <p:nvGrpSpPr>
          <p:cNvPr id="312" name="Rounded Rectangle 137"/>
          <p:cNvGrpSpPr/>
          <p:nvPr/>
        </p:nvGrpSpPr>
        <p:grpSpPr>
          <a:xfrm>
            <a:off x="3200400" y="5111496"/>
            <a:ext cx="2621280" cy="1005841"/>
            <a:chOff x="0" y="0"/>
            <a:chExt cx="2621279" cy="1005839"/>
          </a:xfrm>
        </p:grpSpPr>
        <p:sp>
          <p:nvSpPr>
            <p:cNvPr id="310" name="Rounded Rectangle"/>
            <p:cNvSpPr/>
            <p:nvPr/>
          </p:nvSpPr>
          <p:spPr>
            <a:xfrm>
              <a:off x="0" y="0"/>
              <a:ext cx="2621280" cy="1005840"/>
            </a:xfrm>
            <a:prstGeom prst="roundRect">
              <a:avLst>
                <a:gd name="adj" fmla="val 8000"/>
              </a:avLst>
            </a:prstGeom>
            <a:solidFill>
              <a:srgbClr val="EFE9F8"/>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311" name="FDB-v3 @ 3e799c45"/>
            <p:cNvSpPr txBox="1"/>
            <p:nvPr/>
          </p:nvSpPr>
          <p:spPr>
            <a:xfrm>
              <a:off x="87575" y="335088"/>
              <a:ext cx="2446130" cy="3356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a:solidFill>
                    <a:srgbClr val="1E1433"/>
                  </a:solidFill>
                  <a:latin typeface="Calibri"/>
                  <a:ea typeface="Calibri"/>
                  <a:cs typeface="Calibri"/>
                  <a:sym typeface="Calibri"/>
                </a:defRPr>
              </a:lvl1pPr>
            </a:lstStyle>
            <a:p>
              <a:pPr/>
              <a:r>
                <a:t>FDB-v3 @ 3e799c45</a:t>
              </a:r>
            </a:p>
          </p:txBody>
        </p:sp>
      </p:grpSp>
      <p:grpSp>
        <p:nvGrpSpPr>
          <p:cNvPr id="315" name="Rounded Rectangle 138"/>
          <p:cNvGrpSpPr/>
          <p:nvPr/>
        </p:nvGrpSpPr>
        <p:grpSpPr>
          <a:xfrm>
            <a:off x="6050279" y="5111496"/>
            <a:ext cx="2621281" cy="1005841"/>
            <a:chOff x="0" y="0"/>
            <a:chExt cx="2621279" cy="1005839"/>
          </a:xfrm>
        </p:grpSpPr>
        <p:sp>
          <p:nvSpPr>
            <p:cNvPr id="313" name="Rounded Rectangle"/>
            <p:cNvSpPr/>
            <p:nvPr/>
          </p:nvSpPr>
          <p:spPr>
            <a:xfrm>
              <a:off x="0" y="0"/>
              <a:ext cx="2621280" cy="1005840"/>
            </a:xfrm>
            <a:prstGeom prst="roundRect">
              <a:avLst>
                <a:gd name="adj" fmla="val 8000"/>
              </a:avLst>
            </a:prstGeom>
            <a:solidFill>
              <a:srgbClr val="EFE9F8"/>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314" name="NeMo Parakeet TDT 0.6b-v2"/>
            <p:cNvSpPr txBox="1"/>
            <p:nvPr/>
          </p:nvSpPr>
          <p:spPr>
            <a:xfrm>
              <a:off x="87575" y="335088"/>
              <a:ext cx="2446130" cy="3356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a:solidFill>
                    <a:srgbClr val="1E1433"/>
                  </a:solidFill>
                  <a:latin typeface="Calibri"/>
                  <a:ea typeface="Calibri"/>
                  <a:cs typeface="Calibri"/>
                  <a:sym typeface="Calibri"/>
                </a:defRPr>
              </a:lvl1pPr>
            </a:lstStyle>
            <a:p>
              <a:pPr/>
              <a:r>
                <a:t>NeMo Parakeet TDT 0.6b-v2</a:t>
              </a:r>
            </a:p>
          </p:txBody>
        </p:sp>
      </p:grpSp>
      <p:grpSp>
        <p:nvGrpSpPr>
          <p:cNvPr id="318" name="Rounded Rectangle 139"/>
          <p:cNvGrpSpPr/>
          <p:nvPr/>
        </p:nvGrpSpPr>
        <p:grpSpPr>
          <a:xfrm>
            <a:off x="8900159" y="5111496"/>
            <a:ext cx="2621281" cy="1005841"/>
            <a:chOff x="0" y="0"/>
            <a:chExt cx="2621279" cy="1005839"/>
          </a:xfrm>
        </p:grpSpPr>
        <p:sp>
          <p:nvSpPr>
            <p:cNvPr id="316" name="Rounded Rectangle"/>
            <p:cNvSpPr/>
            <p:nvPr/>
          </p:nvSpPr>
          <p:spPr>
            <a:xfrm>
              <a:off x="0" y="0"/>
              <a:ext cx="2621280" cy="1005840"/>
            </a:xfrm>
            <a:prstGeom prst="roundRect">
              <a:avLst>
                <a:gd name="adj" fmla="val 8000"/>
              </a:avLst>
            </a:prstGeom>
            <a:solidFill>
              <a:srgbClr val="EFE9F8"/>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317" name="Kaggle GPU T4 x2"/>
            <p:cNvSpPr txBox="1"/>
            <p:nvPr/>
          </p:nvSpPr>
          <p:spPr>
            <a:xfrm>
              <a:off x="87575" y="335088"/>
              <a:ext cx="2446130" cy="3356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a:solidFill>
                    <a:srgbClr val="1E1433"/>
                  </a:solidFill>
                  <a:latin typeface="Calibri"/>
                  <a:ea typeface="Calibri"/>
                  <a:cs typeface="Calibri"/>
                  <a:sym typeface="Calibri"/>
                </a:defRPr>
              </a:lvl1pPr>
            </a:lstStyle>
            <a:p>
              <a:pPr/>
              <a:r>
                <a:t>Kaggle GPU T4 x2</a:t>
              </a:r>
            </a:p>
          </p:txBody>
        </p:sp>
      </p:gr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2" name="Google Shape;131;p7"/>
          <p:cNvSpPr txBox="1"/>
          <p:nvPr>
            <p:ph type="title"/>
          </p:nvPr>
        </p:nvSpPr>
        <p:spPr>
          <a:xfrm>
            <a:off x="640080" y="566927"/>
            <a:ext cx="10881360" cy="777241"/>
          </a:xfrm>
          <a:prstGeom prst="rect">
            <a:avLst/>
          </a:prstGeom>
        </p:spPr>
        <p:txBody>
          <a:bodyPr/>
          <a:lstStyle>
            <a:lvl1pPr>
              <a:defRPr b="1" sz="3200">
                <a:solidFill>
                  <a:srgbClr val="704EA6"/>
                </a:solidFill>
              </a:defRPr>
            </a:lvl1pPr>
          </a:lstStyle>
          <a:p>
            <a:pPr/>
            <a:r>
              <a:t>Anywhere a voice can say “wait, actually”</a:t>
            </a:r>
          </a:p>
        </p:txBody>
      </p:sp>
      <p:sp>
        <p:nvSpPr>
          <p:cNvPr id="323" name="TextBox 131"/>
          <p:cNvSpPr txBox="1"/>
          <p:nvPr/>
        </p:nvSpPr>
        <p:spPr>
          <a:xfrm>
            <a:off x="658368" y="320040"/>
            <a:ext cx="7278625" cy="189132"/>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b="1" sz="1100">
                <a:solidFill>
                  <a:srgbClr val="14A38B"/>
                </a:solidFill>
                <a:latin typeface="Calibri"/>
                <a:ea typeface="Calibri"/>
                <a:cs typeface="Calibri"/>
                <a:sym typeface="Calibri"/>
              </a:defRPr>
            </a:lvl1pPr>
          </a:lstStyle>
          <a:p>
            <a:pPr/>
            <a:r>
              <a:t>IMPACT &amp; USE CASE</a:t>
            </a:r>
          </a:p>
        </p:txBody>
      </p:sp>
      <p:graphicFrame>
        <p:nvGraphicFramePr>
          <p:cNvPr id="324" name="Chart 132"/>
          <p:cNvGraphicFramePr/>
          <p:nvPr/>
        </p:nvGraphicFramePr>
        <p:xfrm>
          <a:off x="853517" y="1776196"/>
          <a:ext cx="3779366" cy="3635792"/>
        </p:xfrm>
        <a:graphic xmlns:a="http://schemas.openxmlformats.org/drawingml/2006/main">
          <a:graphicData uri="http://schemas.openxmlformats.org/drawingml/2006/chart">
            <c:chart xmlns:c="http://schemas.openxmlformats.org/drawingml/2006/chart" r:id="rId3"/>
          </a:graphicData>
        </a:graphic>
      </p:graphicFrame>
      <p:grpSp>
        <p:nvGrpSpPr>
          <p:cNvPr id="327" name="Rounded Rectangle 133"/>
          <p:cNvGrpSpPr/>
          <p:nvPr/>
        </p:nvGrpSpPr>
        <p:grpSpPr>
          <a:xfrm>
            <a:off x="5212079" y="1600200"/>
            <a:ext cx="1554481" cy="713232"/>
            <a:chOff x="0" y="0"/>
            <a:chExt cx="1554480" cy="713231"/>
          </a:xfrm>
        </p:grpSpPr>
        <p:sp>
          <p:nvSpPr>
            <p:cNvPr id="325" name="Rounded Rectangle"/>
            <p:cNvSpPr/>
            <p:nvPr/>
          </p:nvSpPr>
          <p:spPr>
            <a:xfrm>
              <a:off x="0" y="0"/>
              <a:ext cx="1554481" cy="713232"/>
            </a:xfrm>
            <a:prstGeom prst="roundRect">
              <a:avLst>
                <a:gd name="adj" fmla="val 8000"/>
              </a:avLst>
            </a:prstGeom>
            <a:solidFill>
              <a:srgbClr val="704EA6"/>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326" name="Travel"/>
            <p:cNvSpPr txBox="1"/>
            <p:nvPr/>
          </p:nvSpPr>
          <p:spPr>
            <a:xfrm>
              <a:off x="80720" y="190185"/>
              <a:ext cx="1393040" cy="3328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500">
                  <a:solidFill>
                    <a:srgbClr val="FFFFFF"/>
                  </a:solidFill>
                  <a:latin typeface="Calibri"/>
                  <a:ea typeface="Calibri"/>
                  <a:cs typeface="Calibri"/>
                  <a:sym typeface="Calibri"/>
                </a:defRPr>
              </a:lvl1pPr>
            </a:lstStyle>
            <a:p>
              <a:pPr/>
              <a:r>
                <a:t>Travel</a:t>
              </a:r>
            </a:p>
          </p:txBody>
        </p:sp>
      </p:grpSp>
      <p:grpSp>
        <p:nvGrpSpPr>
          <p:cNvPr id="330" name="Rounded Rectangle 134"/>
          <p:cNvGrpSpPr/>
          <p:nvPr/>
        </p:nvGrpSpPr>
        <p:grpSpPr>
          <a:xfrm>
            <a:off x="6858000" y="1600200"/>
            <a:ext cx="4663441" cy="713232"/>
            <a:chOff x="0" y="0"/>
            <a:chExt cx="4663440" cy="713231"/>
          </a:xfrm>
        </p:grpSpPr>
        <p:sp>
          <p:nvSpPr>
            <p:cNvPr id="328" name="Rounded Rectangle"/>
            <p:cNvSpPr/>
            <p:nvPr/>
          </p:nvSpPr>
          <p:spPr>
            <a:xfrm>
              <a:off x="0" y="0"/>
              <a:ext cx="4663441" cy="713232"/>
            </a:xfrm>
            <a:prstGeom prst="roundRect">
              <a:avLst>
                <a:gd name="adj" fmla="val 8000"/>
              </a:avLst>
            </a:prstGeom>
            <a:solidFill>
              <a:srgbClr val="EFE9F8"/>
            </a:solidFill>
            <a:ln w="12700" cap="flat">
              <a:noFill/>
              <a:miter lim="400000"/>
            </a:ln>
            <a:effectLst/>
          </p:spPr>
          <p:txBody>
            <a:bodyPr wrap="square" lIns="0" tIns="0" rIns="0" bIns="0" numCol="1" anchor="ctr">
              <a:noAutofit/>
            </a:bodyPr>
            <a:lstStyle/>
            <a:p>
              <a:pPr>
                <a:defRPr>
                  <a:solidFill>
                    <a:srgbClr val="FFFFFF"/>
                  </a:solidFill>
                </a:defRPr>
              </a:pPr>
            </a:p>
          </p:txBody>
        </p:sp>
        <p:sp>
          <p:nvSpPr>
            <p:cNvPr id="329" name="Change the destination without booking two flights."/>
            <p:cNvSpPr txBox="1"/>
            <p:nvPr/>
          </p:nvSpPr>
          <p:spPr>
            <a:xfrm>
              <a:off x="80719" y="188784"/>
              <a:ext cx="4502002" cy="3356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defRPr>
                  <a:solidFill>
                    <a:srgbClr val="1E1433"/>
                  </a:solidFill>
                  <a:latin typeface="Calibri"/>
                  <a:ea typeface="Calibri"/>
                  <a:cs typeface="Calibri"/>
                  <a:sym typeface="Calibri"/>
                </a:defRPr>
              </a:lvl1pPr>
            </a:lstStyle>
            <a:p>
              <a:pPr/>
              <a:r>
                <a:t>Change the destination without booking two flights.</a:t>
              </a:r>
            </a:p>
          </p:txBody>
        </p:sp>
      </p:grpSp>
      <p:grpSp>
        <p:nvGrpSpPr>
          <p:cNvPr id="333" name="Rounded Rectangle 135"/>
          <p:cNvGrpSpPr/>
          <p:nvPr/>
        </p:nvGrpSpPr>
        <p:grpSpPr>
          <a:xfrm>
            <a:off x="5212079" y="2423160"/>
            <a:ext cx="1554481" cy="713233"/>
            <a:chOff x="0" y="0"/>
            <a:chExt cx="1554480" cy="713231"/>
          </a:xfrm>
        </p:grpSpPr>
        <p:sp>
          <p:nvSpPr>
            <p:cNvPr id="331" name="Rounded Rectangle"/>
            <p:cNvSpPr/>
            <p:nvPr/>
          </p:nvSpPr>
          <p:spPr>
            <a:xfrm>
              <a:off x="0" y="0"/>
              <a:ext cx="1554481" cy="713232"/>
            </a:xfrm>
            <a:prstGeom prst="roundRect">
              <a:avLst>
                <a:gd name="adj" fmla="val 8000"/>
              </a:avLst>
            </a:prstGeom>
            <a:solidFill>
              <a:srgbClr val="704EA6"/>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332" name="Finance"/>
            <p:cNvSpPr txBox="1"/>
            <p:nvPr/>
          </p:nvSpPr>
          <p:spPr>
            <a:xfrm>
              <a:off x="80720" y="190185"/>
              <a:ext cx="1393040" cy="3328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500">
                  <a:solidFill>
                    <a:srgbClr val="FFFFFF"/>
                  </a:solidFill>
                  <a:latin typeface="Calibri"/>
                  <a:ea typeface="Calibri"/>
                  <a:cs typeface="Calibri"/>
                  <a:sym typeface="Calibri"/>
                </a:defRPr>
              </a:lvl1pPr>
            </a:lstStyle>
            <a:p>
              <a:pPr/>
              <a:r>
                <a:t>Finance</a:t>
              </a:r>
            </a:p>
          </p:txBody>
        </p:sp>
      </p:grpSp>
      <p:grpSp>
        <p:nvGrpSpPr>
          <p:cNvPr id="336" name="Rounded Rectangle 136"/>
          <p:cNvGrpSpPr/>
          <p:nvPr/>
        </p:nvGrpSpPr>
        <p:grpSpPr>
          <a:xfrm>
            <a:off x="6858000" y="2423160"/>
            <a:ext cx="4663441" cy="713233"/>
            <a:chOff x="0" y="0"/>
            <a:chExt cx="4663440" cy="713231"/>
          </a:xfrm>
        </p:grpSpPr>
        <p:sp>
          <p:nvSpPr>
            <p:cNvPr id="334" name="Rounded Rectangle"/>
            <p:cNvSpPr/>
            <p:nvPr/>
          </p:nvSpPr>
          <p:spPr>
            <a:xfrm>
              <a:off x="0" y="0"/>
              <a:ext cx="4663441" cy="713232"/>
            </a:xfrm>
            <a:prstGeom prst="roundRect">
              <a:avLst>
                <a:gd name="adj" fmla="val 8000"/>
              </a:avLst>
            </a:prstGeom>
            <a:solidFill>
              <a:srgbClr val="EFE9F8"/>
            </a:solidFill>
            <a:ln w="12700" cap="flat">
              <a:noFill/>
              <a:miter lim="400000"/>
            </a:ln>
            <a:effectLst/>
          </p:spPr>
          <p:txBody>
            <a:bodyPr wrap="square" lIns="0" tIns="0" rIns="0" bIns="0" numCol="1" anchor="ctr">
              <a:noAutofit/>
            </a:bodyPr>
            <a:lstStyle/>
            <a:p>
              <a:pPr>
                <a:defRPr>
                  <a:solidFill>
                    <a:srgbClr val="FFFFFF"/>
                  </a:solidFill>
                </a:defRPr>
              </a:pPr>
            </a:p>
          </p:txBody>
        </p:sp>
        <p:sp>
          <p:nvSpPr>
            <p:cNvPr id="335" name="Fix the autopay account before the wrong one is saved."/>
            <p:cNvSpPr txBox="1"/>
            <p:nvPr/>
          </p:nvSpPr>
          <p:spPr>
            <a:xfrm>
              <a:off x="80719" y="188784"/>
              <a:ext cx="4502002" cy="3356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defRPr>
                  <a:solidFill>
                    <a:srgbClr val="1E1433"/>
                  </a:solidFill>
                  <a:latin typeface="Calibri"/>
                  <a:ea typeface="Calibri"/>
                  <a:cs typeface="Calibri"/>
                  <a:sym typeface="Calibri"/>
                </a:defRPr>
              </a:lvl1pPr>
            </a:lstStyle>
            <a:p>
              <a:pPr/>
              <a:r>
                <a:t>Fix the autopay account before the wrong one is saved.</a:t>
              </a:r>
            </a:p>
          </p:txBody>
        </p:sp>
      </p:grpSp>
      <p:grpSp>
        <p:nvGrpSpPr>
          <p:cNvPr id="339" name="Rounded Rectangle 137"/>
          <p:cNvGrpSpPr/>
          <p:nvPr/>
        </p:nvGrpSpPr>
        <p:grpSpPr>
          <a:xfrm>
            <a:off x="5212079" y="3246120"/>
            <a:ext cx="1554481" cy="713233"/>
            <a:chOff x="0" y="0"/>
            <a:chExt cx="1554480" cy="713231"/>
          </a:xfrm>
        </p:grpSpPr>
        <p:sp>
          <p:nvSpPr>
            <p:cNvPr id="337" name="Rounded Rectangle"/>
            <p:cNvSpPr/>
            <p:nvPr/>
          </p:nvSpPr>
          <p:spPr>
            <a:xfrm>
              <a:off x="0" y="0"/>
              <a:ext cx="1554481" cy="713232"/>
            </a:xfrm>
            <a:prstGeom prst="roundRect">
              <a:avLst>
                <a:gd name="adj" fmla="val 8000"/>
              </a:avLst>
            </a:prstGeom>
            <a:solidFill>
              <a:srgbClr val="704EA6"/>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338" name="Housing"/>
            <p:cNvSpPr txBox="1"/>
            <p:nvPr/>
          </p:nvSpPr>
          <p:spPr>
            <a:xfrm>
              <a:off x="80720" y="190185"/>
              <a:ext cx="1393040" cy="3328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500">
                  <a:solidFill>
                    <a:srgbClr val="FFFFFF"/>
                  </a:solidFill>
                  <a:latin typeface="Calibri"/>
                  <a:ea typeface="Calibri"/>
                  <a:cs typeface="Calibri"/>
                  <a:sym typeface="Calibri"/>
                </a:defRPr>
              </a:lvl1pPr>
            </a:lstStyle>
            <a:p>
              <a:pPr/>
              <a:r>
                <a:t>Housing</a:t>
              </a:r>
            </a:p>
          </p:txBody>
        </p:sp>
      </p:grpSp>
      <p:grpSp>
        <p:nvGrpSpPr>
          <p:cNvPr id="342" name="Rounded Rectangle 138"/>
          <p:cNvGrpSpPr/>
          <p:nvPr/>
        </p:nvGrpSpPr>
        <p:grpSpPr>
          <a:xfrm>
            <a:off x="6858000" y="3246120"/>
            <a:ext cx="4663441" cy="713233"/>
            <a:chOff x="0" y="0"/>
            <a:chExt cx="4663440" cy="713231"/>
          </a:xfrm>
        </p:grpSpPr>
        <p:sp>
          <p:nvSpPr>
            <p:cNvPr id="340" name="Rounded Rectangle"/>
            <p:cNvSpPr/>
            <p:nvPr/>
          </p:nvSpPr>
          <p:spPr>
            <a:xfrm>
              <a:off x="0" y="0"/>
              <a:ext cx="4663441" cy="713232"/>
            </a:xfrm>
            <a:prstGeom prst="roundRect">
              <a:avLst>
                <a:gd name="adj" fmla="val 8000"/>
              </a:avLst>
            </a:prstGeom>
            <a:solidFill>
              <a:srgbClr val="EFE9F8"/>
            </a:solidFill>
            <a:ln w="12700" cap="flat">
              <a:noFill/>
              <a:miter lim="400000"/>
            </a:ln>
            <a:effectLst/>
          </p:spPr>
          <p:txBody>
            <a:bodyPr wrap="square" lIns="0" tIns="0" rIns="0" bIns="0" numCol="1" anchor="ctr">
              <a:noAutofit/>
            </a:bodyPr>
            <a:lstStyle/>
            <a:p>
              <a:pPr>
                <a:defRPr>
                  <a:solidFill>
                    <a:srgbClr val="FFFFFF"/>
                  </a:solidFill>
                </a:defRPr>
              </a:pPr>
            </a:p>
          </p:txBody>
        </p:sp>
        <p:sp>
          <p:nvSpPr>
            <p:cNvPr id="341" name="Tighten a search, “actually under $3000”, mid-results."/>
            <p:cNvSpPr txBox="1"/>
            <p:nvPr/>
          </p:nvSpPr>
          <p:spPr>
            <a:xfrm>
              <a:off x="80719" y="188784"/>
              <a:ext cx="4502002" cy="3356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defRPr>
                  <a:solidFill>
                    <a:srgbClr val="1E1433"/>
                  </a:solidFill>
                  <a:latin typeface="Calibri"/>
                  <a:ea typeface="Calibri"/>
                  <a:cs typeface="Calibri"/>
                  <a:sym typeface="Calibri"/>
                </a:defRPr>
              </a:lvl1pPr>
            </a:lstStyle>
            <a:p>
              <a:pPr/>
              <a:r>
                <a:t>Tighten a search, “actually under $3000”, mid-results.</a:t>
              </a:r>
            </a:p>
          </p:txBody>
        </p:sp>
      </p:grpSp>
      <p:grpSp>
        <p:nvGrpSpPr>
          <p:cNvPr id="345" name="Rounded Rectangle 139"/>
          <p:cNvGrpSpPr/>
          <p:nvPr/>
        </p:nvGrpSpPr>
        <p:grpSpPr>
          <a:xfrm>
            <a:off x="5212079" y="4069079"/>
            <a:ext cx="1554481" cy="713233"/>
            <a:chOff x="0" y="0"/>
            <a:chExt cx="1554480" cy="713231"/>
          </a:xfrm>
        </p:grpSpPr>
        <p:sp>
          <p:nvSpPr>
            <p:cNvPr id="343" name="Rounded Rectangle"/>
            <p:cNvSpPr/>
            <p:nvPr/>
          </p:nvSpPr>
          <p:spPr>
            <a:xfrm>
              <a:off x="0" y="0"/>
              <a:ext cx="1554481" cy="713232"/>
            </a:xfrm>
            <a:prstGeom prst="roundRect">
              <a:avLst>
                <a:gd name="adj" fmla="val 8000"/>
              </a:avLst>
            </a:prstGeom>
            <a:solidFill>
              <a:srgbClr val="704EA6"/>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344" name="E-commerce"/>
            <p:cNvSpPr txBox="1"/>
            <p:nvPr/>
          </p:nvSpPr>
          <p:spPr>
            <a:xfrm>
              <a:off x="80720" y="190185"/>
              <a:ext cx="1393040" cy="3328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500">
                  <a:solidFill>
                    <a:srgbClr val="FFFFFF"/>
                  </a:solidFill>
                  <a:latin typeface="Calibri"/>
                  <a:ea typeface="Calibri"/>
                  <a:cs typeface="Calibri"/>
                  <a:sym typeface="Calibri"/>
                </a:defRPr>
              </a:lvl1pPr>
            </a:lstStyle>
            <a:p>
              <a:pPr/>
              <a:r>
                <a:t>E-commerce</a:t>
              </a:r>
            </a:p>
          </p:txBody>
        </p:sp>
      </p:grpSp>
      <p:grpSp>
        <p:nvGrpSpPr>
          <p:cNvPr id="348" name="Rounded Rectangle 140"/>
          <p:cNvGrpSpPr/>
          <p:nvPr/>
        </p:nvGrpSpPr>
        <p:grpSpPr>
          <a:xfrm>
            <a:off x="6858000" y="4069079"/>
            <a:ext cx="4663441" cy="713233"/>
            <a:chOff x="0" y="0"/>
            <a:chExt cx="4663440" cy="713231"/>
          </a:xfrm>
        </p:grpSpPr>
        <p:sp>
          <p:nvSpPr>
            <p:cNvPr id="346" name="Rounded Rectangle"/>
            <p:cNvSpPr/>
            <p:nvPr/>
          </p:nvSpPr>
          <p:spPr>
            <a:xfrm>
              <a:off x="0" y="0"/>
              <a:ext cx="4663441" cy="713232"/>
            </a:xfrm>
            <a:prstGeom prst="roundRect">
              <a:avLst>
                <a:gd name="adj" fmla="val 8000"/>
              </a:avLst>
            </a:prstGeom>
            <a:solidFill>
              <a:srgbClr val="EFE9F8"/>
            </a:solidFill>
            <a:ln w="12700" cap="flat">
              <a:noFill/>
              <a:miter lim="400000"/>
            </a:ln>
            <a:effectLst/>
          </p:spPr>
          <p:txBody>
            <a:bodyPr wrap="square" lIns="0" tIns="0" rIns="0" bIns="0" numCol="1" anchor="ctr">
              <a:noAutofit/>
            </a:bodyPr>
            <a:lstStyle/>
            <a:p>
              <a:pPr>
                <a:defRPr>
                  <a:solidFill>
                    <a:srgbClr val="FFFFFF"/>
                  </a:solidFill>
                </a:defRPr>
              </a:pPr>
            </a:p>
          </p:txBody>
        </p:sp>
        <p:sp>
          <p:nvSpPr>
            <p:cNvPr id="347" name="Swap the product before it hits the cart twice."/>
            <p:cNvSpPr txBox="1"/>
            <p:nvPr/>
          </p:nvSpPr>
          <p:spPr>
            <a:xfrm>
              <a:off x="80719" y="188784"/>
              <a:ext cx="4502002" cy="3356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defRPr>
                  <a:solidFill>
                    <a:srgbClr val="1E1433"/>
                  </a:solidFill>
                  <a:latin typeface="Calibri"/>
                  <a:ea typeface="Calibri"/>
                  <a:cs typeface="Calibri"/>
                  <a:sym typeface="Calibri"/>
                </a:defRPr>
              </a:lvl1pPr>
            </a:lstStyle>
            <a:p>
              <a:pPr/>
              <a:r>
                <a:t>Swap the product before it hits the cart twice.</a:t>
              </a:r>
            </a:p>
          </p:txBody>
        </p:sp>
      </p:grpSp>
      <p:grpSp>
        <p:nvGrpSpPr>
          <p:cNvPr id="351" name="Rounded Rectangle 141"/>
          <p:cNvGrpSpPr/>
          <p:nvPr/>
        </p:nvGrpSpPr>
        <p:grpSpPr>
          <a:xfrm>
            <a:off x="5212079" y="4892040"/>
            <a:ext cx="1554481" cy="713233"/>
            <a:chOff x="0" y="0"/>
            <a:chExt cx="1554480" cy="713231"/>
          </a:xfrm>
        </p:grpSpPr>
        <p:sp>
          <p:nvSpPr>
            <p:cNvPr id="349" name="Rounded Rectangle"/>
            <p:cNvSpPr/>
            <p:nvPr/>
          </p:nvSpPr>
          <p:spPr>
            <a:xfrm>
              <a:off x="0" y="0"/>
              <a:ext cx="1554481" cy="713232"/>
            </a:xfrm>
            <a:prstGeom prst="roundRect">
              <a:avLst>
                <a:gd name="adj" fmla="val 8000"/>
              </a:avLst>
            </a:prstGeom>
            <a:solidFill>
              <a:srgbClr val="704EA6"/>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350" name="Kitchen"/>
            <p:cNvSpPr txBox="1"/>
            <p:nvPr/>
          </p:nvSpPr>
          <p:spPr>
            <a:xfrm>
              <a:off x="80720" y="190185"/>
              <a:ext cx="1393040" cy="33286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500">
                  <a:solidFill>
                    <a:srgbClr val="FFFFFF"/>
                  </a:solidFill>
                  <a:latin typeface="Calibri"/>
                  <a:ea typeface="Calibri"/>
                  <a:cs typeface="Calibri"/>
                  <a:sym typeface="Calibri"/>
                </a:defRPr>
              </a:lvl1pPr>
            </a:lstStyle>
            <a:p>
              <a:pPr/>
              <a:r>
                <a:t>Kitchen</a:t>
              </a:r>
            </a:p>
          </p:txBody>
        </p:sp>
      </p:grpSp>
      <p:grpSp>
        <p:nvGrpSpPr>
          <p:cNvPr id="354" name="Rounded Rectangle 142"/>
          <p:cNvGrpSpPr/>
          <p:nvPr/>
        </p:nvGrpSpPr>
        <p:grpSpPr>
          <a:xfrm>
            <a:off x="6858000" y="4892040"/>
            <a:ext cx="4663441" cy="713233"/>
            <a:chOff x="0" y="0"/>
            <a:chExt cx="4663440" cy="713231"/>
          </a:xfrm>
        </p:grpSpPr>
        <p:sp>
          <p:nvSpPr>
            <p:cNvPr id="352" name="Rounded Rectangle"/>
            <p:cNvSpPr/>
            <p:nvPr/>
          </p:nvSpPr>
          <p:spPr>
            <a:xfrm>
              <a:off x="0" y="0"/>
              <a:ext cx="4663441" cy="713232"/>
            </a:xfrm>
            <a:prstGeom prst="roundRect">
              <a:avLst>
                <a:gd name="adj" fmla="val 8000"/>
              </a:avLst>
            </a:prstGeom>
            <a:solidFill>
              <a:srgbClr val="EFE9F8"/>
            </a:solidFill>
            <a:ln w="12700" cap="flat">
              <a:noFill/>
              <a:miter lim="400000"/>
            </a:ln>
            <a:effectLst/>
          </p:spPr>
          <p:txBody>
            <a:bodyPr wrap="square" lIns="0" tIns="0" rIns="0" bIns="0" numCol="1" anchor="ctr">
              <a:noAutofit/>
            </a:bodyPr>
            <a:lstStyle/>
            <a:p>
              <a:pPr>
                <a:defRPr>
                  <a:solidFill>
                    <a:srgbClr val="FFFFFF"/>
                  </a:solidFill>
                </a:defRPr>
              </a:pPr>
            </a:p>
          </p:txBody>
        </p:sp>
        <p:sp>
          <p:nvSpPr>
            <p:cNvPr id="353" name="Ten minutes becomes seven. One timer rings."/>
            <p:cNvSpPr txBox="1"/>
            <p:nvPr/>
          </p:nvSpPr>
          <p:spPr>
            <a:xfrm>
              <a:off x="80719" y="188784"/>
              <a:ext cx="4502002" cy="33566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defRPr>
                  <a:solidFill>
                    <a:srgbClr val="1E1433"/>
                  </a:solidFill>
                  <a:latin typeface="Calibri"/>
                  <a:ea typeface="Calibri"/>
                  <a:cs typeface="Calibri"/>
                  <a:sym typeface="Calibri"/>
                </a:defRPr>
              </a:lvl1pPr>
            </a:lstStyle>
            <a:p>
              <a:pPr/>
              <a:r>
                <a:t>Ten minutes becomes seven. One timer rings.</a:t>
              </a:r>
            </a:p>
          </p:txBody>
        </p:sp>
      </p:grpSp>
      <p:sp>
        <p:nvSpPr>
          <p:cNvPr id="355" name="TextBox 143"/>
          <p:cNvSpPr txBox="1"/>
          <p:nvPr/>
        </p:nvSpPr>
        <p:spPr>
          <a:xfrm>
            <a:off x="5230367" y="5760720"/>
            <a:ext cx="6272786" cy="241421"/>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b="1" sz="1500">
                <a:solidFill>
                  <a:srgbClr val="704EA6"/>
                </a:solidFill>
                <a:latin typeface="Calibri"/>
                <a:ea typeface="Calibri"/>
                <a:cs typeface="Calibri"/>
                <a:sym typeface="Calibri"/>
              </a:defRPr>
            </a:lvl1pPr>
          </a:lstStyle>
          <a:p>
            <a:pPr/>
            <a:r>
              <a:t>Same controller, five domains, zero domain-specific hacks.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9" name="Google Shape;137;p8"/>
          <p:cNvSpPr txBox="1"/>
          <p:nvPr>
            <p:ph type="title"/>
          </p:nvPr>
        </p:nvSpPr>
        <p:spPr>
          <a:xfrm>
            <a:off x="640080" y="566927"/>
            <a:ext cx="10881360" cy="777241"/>
          </a:xfrm>
          <a:prstGeom prst="rect">
            <a:avLst/>
          </a:prstGeom>
        </p:spPr>
        <p:txBody>
          <a:bodyPr/>
          <a:lstStyle>
            <a:lvl1pPr>
              <a:defRPr b="1" sz="3200">
                <a:solidFill>
                  <a:srgbClr val="704EA6"/>
                </a:solidFill>
              </a:defRPr>
            </a:lvl1pPr>
          </a:lstStyle>
          <a:p>
            <a:pPr/>
            <a:r>
              <a:t>What we built, what we proved, what’s still hard</a:t>
            </a:r>
          </a:p>
        </p:txBody>
      </p:sp>
      <p:sp>
        <p:nvSpPr>
          <p:cNvPr id="360" name="TextBox 137"/>
          <p:cNvSpPr txBox="1"/>
          <p:nvPr/>
        </p:nvSpPr>
        <p:spPr>
          <a:xfrm>
            <a:off x="658368" y="320040"/>
            <a:ext cx="7278625" cy="189132"/>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b="1" sz="1100">
                <a:solidFill>
                  <a:srgbClr val="14A38B"/>
                </a:solidFill>
                <a:latin typeface="Calibri"/>
                <a:ea typeface="Calibri"/>
                <a:cs typeface="Calibri"/>
                <a:sym typeface="Calibri"/>
              </a:defRPr>
            </a:lvl1pPr>
          </a:lstStyle>
          <a:p>
            <a:pPr/>
            <a:r>
              <a:t>INNOVATION, RESULTS &amp; LIMITATIONS</a:t>
            </a:r>
          </a:p>
        </p:txBody>
      </p:sp>
      <p:graphicFrame>
        <p:nvGraphicFramePr>
          <p:cNvPr id="361" name="Chart 138"/>
          <p:cNvGraphicFramePr/>
          <p:nvPr/>
        </p:nvGraphicFramePr>
        <p:xfrm>
          <a:off x="667031" y="1623655"/>
          <a:ext cx="5392140" cy="4193781"/>
        </p:xfrm>
        <a:graphic xmlns:a="http://schemas.openxmlformats.org/drawingml/2006/main">
          <a:graphicData uri="http://schemas.openxmlformats.org/drawingml/2006/chart">
            <c:chart xmlns:c="http://schemas.openxmlformats.org/drawingml/2006/chart" r:id="rId3"/>
          </a:graphicData>
        </a:graphic>
      </p:graphicFrame>
      <p:grpSp>
        <p:nvGrpSpPr>
          <p:cNvPr id="364" name="Rounded Rectangle 139"/>
          <p:cNvGrpSpPr/>
          <p:nvPr/>
        </p:nvGrpSpPr>
        <p:grpSpPr>
          <a:xfrm>
            <a:off x="6492240" y="1600200"/>
            <a:ext cx="5029201" cy="2148840"/>
            <a:chOff x="0" y="0"/>
            <a:chExt cx="5029200" cy="2148839"/>
          </a:xfrm>
        </p:grpSpPr>
        <p:sp>
          <p:nvSpPr>
            <p:cNvPr id="362" name="Rounded Rectangle"/>
            <p:cNvSpPr/>
            <p:nvPr/>
          </p:nvSpPr>
          <p:spPr>
            <a:xfrm>
              <a:off x="0" y="0"/>
              <a:ext cx="5029200" cy="2148840"/>
            </a:xfrm>
            <a:prstGeom prst="roundRect">
              <a:avLst>
                <a:gd name="adj" fmla="val 8000"/>
              </a:avLst>
            </a:prstGeom>
            <a:solidFill>
              <a:srgbClr val="EFE9F8"/>
            </a:solidFill>
            <a:ln w="12700" cap="flat">
              <a:noFill/>
              <a:miter lim="400000"/>
            </a:ln>
            <a:effectLst/>
          </p:spPr>
          <p:txBody>
            <a:bodyPr wrap="square" lIns="0" tIns="0" rIns="0" bIns="0" numCol="1" anchor="t">
              <a:noAutofit/>
            </a:bodyPr>
            <a:lstStyle/>
            <a:p>
              <a:pPr>
                <a:defRPr>
                  <a:solidFill>
                    <a:srgbClr val="FFFFFF"/>
                  </a:solidFill>
                </a:defRPr>
              </a:pPr>
            </a:p>
          </p:txBody>
        </p:sp>
        <p:sp>
          <p:nvSpPr>
            <p:cNvPr id="363" name="Innovation…"/>
            <p:cNvSpPr txBox="1"/>
            <p:nvPr/>
          </p:nvSpPr>
          <p:spPr>
            <a:xfrm>
              <a:off x="114358" y="50349"/>
              <a:ext cx="4800484" cy="110046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t">
              <a:spAutoFit/>
            </a:bodyPr>
            <a:lstStyle/>
            <a:p>
              <a:pPr>
                <a:spcBef>
                  <a:spcPts val="400"/>
                </a:spcBef>
                <a:defRPr b="1" sz="1600">
                  <a:solidFill>
                    <a:srgbClr val="704EA6"/>
                  </a:solidFill>
                  <a:latin typeface="Calibri"/>
                  <a:ea typeface="Calibri"/>
                  <a:cs typeface="Calibri"/>
                  <a:sym typeface="Calibri"/>
                </a:defRPr>
              </a:pPr>
              <a:r>
                <a:t>Innovation</a:t>
              </a:r>
              <a:endParaRPr>
                <a:solidFill>
                  <a:srgbClr val="FFFFFF"/>
                </a:solidFill>
              </a:endParaRPr>
            </a:p>
            <a:p>
              <a:pPr>
                <a:spcBef>
                  <a:spcPts val="300"/>
                </a:spcBef>
                <a:defRPr sz="1300">
                  <a:solidFill>
                    <a:srgbClr val="1E1433"/>
                  </a:solidFill>
                  <a:latin typeface="Calibri"/>
                  <a:ea typeface="Calibri"/>
                  <a:cs typeface="Calibri"/>
                  <a:sym typeface="Calibri"/>
                </a:defRPr>
              </a:pPr>
              <a:r>
                <a:t>Versioned intents: corrections replace, they don’t stack.</a:t>
              </a:r>
              <a:endParaRPr>
                <a:solidFill>
                  <a:srgbClr val="FFFFFF"/>
                </a:solidFill>
              </a:endParaRPr>
            </a:p>
            <a:p>
              <a:pPr>
                <a:spcBef>
                  <a:spcPts val="300"/>
                </a:spcBef>
                <a:defRPr sz="1300">
                  <a:solidFill>
                    <a:srgbClr val="1E1433"/>
                  </a:solidFill>
                  <a:latin typeface="Calibri"/>
                  <a:ea typeface="Calibri"/>
                  <a:cs typeface="Calibri"/>
                  <a:sym typeface="Calibri"/>
                </a:defRPr>
              </a:pPr>
              <a:r>
                <a:t>Write-serialisation gate with cancel-before-dispatch.</a:t>
              </a:r>
              <a:endParaRPr>
                <a:solidFill>
                  <a:srgbClr val="FFFFFF"/>
                </a:solidFill>
              </a:endParaRPr>
            </a:p>
            <a:p>
              <a:pPr>
                <a:defRPr sz="1300">
                  <a:solidFill>
                    <a:srgbClr val="1E1433"/>
                  </a:solidFill>
                  <a:latin typeface="Calibri"/>
                  <a:ea typeface="Calibri"/>
                  <a:cs typeface="Calibri"/>
                  <a:sym typeface="Calibri"/>
                </a:defRPr>
              </a:pPr>
              <a:r>
                <a:t>Zero answer leakage: no benchmark answers in src/.</a:t>
              </a:r>
            </a:p>
          </p:txBody>
        </p:sp>
      </p:grpSp>
      <p:grpSp>
        <p:nvGrpSpPr>
          <p:cNvPr id="367" name="Rounded Rectangle 140"/>
          <p:cNvGrpSpPr/>
          <p:nvPr/>
        </p:nvGrpSpPr>
        <p:grpSpPr>
          <a:xfrm>
            <a:off x="6492240" y="3886200"/>
            <a:ext cx="5029201" cy="1965961"/>
            <a:chOff x="0" y="0"/>
            <a:chExt cx="5029200" cy="1965960"/>
          </a:xfrm>
        </p:grpSpPr>
        <p:sp>
          <p:nvSpPr>
            <p:cNvPr id="365" name="Rounded Rectangle"/>
            <p:cNvSpPr/>
            <p:nvPr/>
          </p:nvSpPr>
          <p:spPr>
            <a:xfrm>
              <a:off x="0" y="0"/>
              <a:ext cx="5029200" cy="1965961"/>
            </a:xfrm>
            <a:prstGeom prst="roundRect">
              <a:avLst>
                <a:gd name="adj" fmla="val 8000"/>
              </a:avLst>
            </a:prstGeom>
            <a:solidFill>
              <a:srgbClr val="FFFFFF"/>
            </a:solidFill>
            <a:ln w="15875" cap="flat">
              <a:solidFill>
                <a:srgbClr val="D64550"/>
              </a:solidFill>
              <a:prstDash val="solid"/>
              <a:round/>
            </a:ln>
            <a:effectLst/>
          </p:spPr>
          <p:txBody>
            <a:bodyPr wrap="square" lIns="0" tIns="0" rIns="0" bIns="0" numCol="1" anchor="t">
              <a:noAutofit/>
            </a:bodyPr>
            <a:lstStyle/>
            <a:p>
              <a:pPr>
                <a:defRPr>
                  <a:solidFill>
                    <a:srgbClr val="FFFFFF"/>
                  </a:solidFill>
                </a:defRPr>
              </a:pPr>
            </a:p>
          </p:txBody>
        </p:sp>
        <p:sp>
          <p:nvSpPr>
            <p:cNvPr id="366" name="Honest limits…"/>
            <p:cNvSpPr txBox="1"/>
            <p:nvPr/>
          </p:nvSpPr>
          <p:spPr>
            <a:xfrm>
              <a:off x="118010" y="54002"/>
              <a:ext cx="4793180" cy="110046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t">
              <a:spAutoFit/>
            </a:bodyPr>
            <a:lstStyle/>
            <a:p>
              <a:pPr>
                <a:spcBef>
                  <a:spcPts val="400"/>
                </a:spcBef>
                <a:defRPr b="1" sz="1600">
                  <a:solidFill>
                    <a:srgbClr val="D64550"/>
                  </a:solidFill>
                  <a:latin typeface="Calibri"/>
                  <a:ea typeface="Calibri"/>
                  <a:cs typeface="Calibri"/>
                  <a:sym typeface="Calibri"/>
                </a:defRPr>
              </a:pPr>
              <a:r>
                <a:t>Honest limits</a:t>
              </a:r>
              <a:endParaRPr>
                <a:solidFill>
                  <a:srgbClr val="FFFFFF"/>
                </a:solidFill>
              </a:endParaRPr>
            </a:p>
            <a:p>
              <a:pPr>
                <a:spcBef>
                  <a:spcPts val="300"/>
                </a:spcBef>
                <a:defRPr sz="1300">
                  <a:solidFill>
                    <a:srgbClr val="1E1433"/>
                  </a:solidFill>
                  <a:latin typeface="Calibri"/>
                  <a:ea typeface="Calibri"/>
                  <a:cs typeface="Calibri"/>
                  <a:sym typeface="Calibri"/>
                </a:defRPr>
              </a:pPr>
              <a:r>
                <a:t>Tools are mocks; real APIs need undo and rollback.</a:t>
              </a:r>
              <a:endParaRPr>
                <a:solidFill>
                  <a:srgbClr val="FFFFFF"/>
                </a:solidFill>
              </a:endParaRPr>
            </a:p>
            <a:p>
              <a:pPr>
                <a:spcBef>
                  <a:spcPts val="300"/>
                </a:spcBef>
                <a:defRPr sz="1300">
                  <a:solidFill>
                    <a:srgbClr val="1E1433"/>
                  </a:solidFill>
                  <a:latin typeface="Calibri"/>
                  <a:ea typeface="Calibri"/>
                  <a:cs typeface="Calibri"/>
                  <a:sym typeface="Calibri"/>
                </a:defRPr>
              </a:pPr>
              <a:r>
                <a:t>Built on one realtime model and a free-quota key.</a:t>
              </a:r>
              <a:endParaRPr>
                <a:solidFill>
                  <a:srgbClr val="FFFFFF"/>
                </a:solidFill>
              </a:endParaRPr>
            </a:p>
            <a:p>
              <a:pPr>
                <a:defRPr sz="1300">
                  <a:solidFill>
                    <a:srgbClr val="1E1433"/>
                  </a:solidFill>
                  <a:latin typeface="Calibri"/>
                  <a:ea typeface="Calibri"/>
                  <a:cs typeface="Calibri"/>
                  <a:sym typeface="Calibri"/>
                </a:defRPr>
              </a:pPr>
              <a:r>
                <a:t>Not yet tested on noisy real-world calls.</a:t>
              </a:r>
            </a:p>
          </p:txBody>
        </p:sp>
      </p:gr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1" name="Google Shape;143;p9"/>
          <p:cNvSpPr txBox="1"/>
          <p:nvPr>
            <p:ph type="title"/>
          </p:nvPr>
        </p:nvSpPr>
        <p:spPr>
          <a:xfrm>
            <a:off x="640080" y="566927"/>
            <a:ext cx="10881360" cy="777241"/>
          </a:xfrm>
          <a:prstGeom prst="rect">
            <a:avLst/>
          </a:prstGeom>
        </p:spPr>
        <p:txBody>
          <a:bodyPr/>
          <a:lstStyle>
            <a:lvl1pPr>
              <a:defRPr b="1" sz="3200">
                <a:solidFill>
                  <a:srgbClr val="704EA6"/>
                </a:solidFill>
              </a:defRPr>
            </a:lvl1pPr>
          </a:lstStyle>
          <a:p>
            <a:pPr/>
            <a:r>
              <a:t>From benchmark-ready to production-ready</a:t>
            </a:r>
          </a:p>
        </p:txBody>
      </p:sp>
      <p:sp>
        <p:nvSpPr>
          <p:cNvPr id="372" name="TextBox 143"/>
          <p:cNvSpPr txBox="1"/>
          <p:nvPr/>
        </p:nvSpPr>
        <p:spPr>
          <a:xfrm>
            <a:off x="658368" y="320040"/>
            <a:ext cx="7278625" cy="189132"/>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b="1" sz="1100">
                <a:solidFill>
                  <a:srgbClr val="14A38B"/>
                </a:solidFill>
                <a:latin typeface="Calibri"/>
                <a:ea typeface="Calibri"/>
                <a:cs typeface="Calibri"/>
                <a:sym typeface="Calibri"/>
              </a:defRPr>
            </a:lvl1pPr>
          </a:lstStyle>
          <a:p>
            <a:pPr/>
            <a:r>
              <a:t>WHAT’S NEXT</a:t>
            </a:r>
          </a:p>
        </p:txBody>
      </p:sp>
      <p:sp>
        <p:nvSpPr>
          <p:cNvPr id="373" name="Connector 144"/>
          <p:cNvSpPr/>
          <p:nvPr/>
        </p:nvSpPr>
        <p:spPr>
          <a:xfrm>
            <a:off x="1463039" y="2148839"/>
            <a:ext cx="9235442" cy="1"/>
          </a:xfrm>
          <a:prstGeom prst="line">
            <a:avLst/>
          </a:prstGeom>
          <a:ln w="38100">
            <a:solidFill>
              <a:srgbClr val="CFC2EA"/>
            </a:solidFill>
          </a:ln>
          <a:effectLst>
            <a:outerShdw sx="100000" sy="100000" kx="0" ky="0" algn="b" rotWithShape="0" blurRad="38100" dist="20000" dir="5400000">
              <a:srgbClr val="000000">
                <a:alpha val="38000"/>
              </a:srgbClr>
            </a:outerShdw>
          </a:effectLst>
        </p:spPr>
        <p:txBody>
          <a:bodyPr lIns="0" tIns="0" rIns="0" bIns="0"/>
          <a:lstStyle/>
          <a:p>
            <a:pPr/>
          </a:p>
        </p:txBody>
      </p:sp>
      <p:grpSp>
        <p:nvGrpSpPr>
          <p:cNvPr id="376" name="Oval 145"/>
          <p:cNvGrpSpPr/>
          <p:nvPr/>
        </p:nvGrpSpPr>
        <p:grpSpPr>
          <a:xfrm>
            <a:off x="1463039" y="1691639"/>
            <a:ext cx="914401" cy="914401"/>
            <a:chOff x="0" y="0"/>
            <a:chExt cx="914400" cy="914400"/>
          </a:xfrm>
        </p:grpSpPr>
        <p:sp>
          <p:nvSpPr>
            <p:cNvPr id="374" name="Circle"/>
            <p:cNvSpPr/>
            <p:nvPr/>
          </p:nvSpPr>
          <p:spPr>
            <a:xfrm>
              <a:off x="0" y="0"/>
              <a:ext cx="914400" cy="914400"/>
            </a:xfrm>
            <a:prstGeom prst="ellipse">
              <a:avLst/>
            </a:prstGeom>
            <a:solidFill>
              <a:srgbClr val="14A38B"/>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375" name="Now"/>
            <p:cNvSpPr txBox="1"/>
            <p:nvPr/>
          </p:nvSpPr>
          <p:spPr>
            <a:xfrm>
              <a:off x="133910" y="363921"/>
              <a:ext cx="646580" cy="18655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solidFill>
                    <a:srgbClr val="FFFFFF"/>
                  </a:solidFill>
                  <a:latin typeface="Calibri"/>
                  <a:ea typeface="Calibri"/>
                  <a:cs typeface="Calibri"/>
                  <a:sym typeface="Calibri"/>
                </a:defRPr>
              </a:lvl1pPr>
            </a:lstStyle>
            <a:p>
              <a:pPr/>
              <a:r>
                <a:t>Now</a:t>
              </a:r>
            </a:p>
          </p:txBody>
        </p:sp>
      </p:grpSp>
      <p:grpSp>
        <p:nvGrpSpPr>
          <p:cNvPr id="379" name="Rounded Rectangle 146"/>
          <p:cNvGrpSpPr/>
          <p:nvPr/>
        </p:nvGrpSpPr>
        <p:grpSpPr>
          <a:xfrm>
            <a:off x="640080" y="2880360"/>
            <a:ext cx="2560321" cy="2103121"/>
            <a:chOff x="0" y="0"/>
            <a:chExt cx="2560320" cy="2103120"/>
          </a:xfrm>
        </p:grpSpPr>
        <p:sp>
          <p:nvSpPr>
            <p:cNvPr id="377" name="Rounded Rectangle"/>
            <p:cNvSpPr/>
            <p:nvPr/>
          </p:nvSpPr>
          <p:spPr>
            <a:xfrm>
              <a:off x="0" y="0"/>
              <a:ext cx="2560321" cy="2103121"/>
            </a:xfrm>
            <a:prstGeom prst="roundRect">
              <a:avLst>
                <a:gd name="adj" fmla="val 8000"/>
              </a:avLst>
            </a:prstGeom>
            <a:solidFill>
              <a:srgbClr val="EFE9F8"/>
            </a:solidFill>
            <a:ln w="12700" cap="flat">
              <a:noFill/>
              <a:miter lim="400000"/>
            </a:ln>
            <a:effectLst/>
          </p:spPr>
          <p:txBody>
            <a:bodyPr wrap="square" lIns="0" tIns="0" rIns="0" bIns="0" numCol="1" anchor="t">
              <a:noAutofit/>
            </a:bodyPr>
            <a:lstStyle/>
            <a:p>
              <a:pPr>
                <a:defRPr>
                  <a:solidFill>
                    <a:srgbClr val="FFFFFF"/>
                  </a:solidFill>
                </a:defRPr>
              </a:pPr>
            </a:p>
          </p:txBody>
        </p:sp>
        <p:sp>
          <p:nvSpPr>
            <p:cNvPr id="378" name="Shipped…"/>
            <p:cNvSpPr txBox="1"/>
            <p:nvPr/>
          </p:nvSpPr>
          <p:spPr>
            <a:xfrm>
              <a:off x="113287" y="49279"/>
              <a:ext cx="2333746" cy="11710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t">
              <a:spAutoFit/>
            </a:bodyPr>
            <a:lstStyle/>
            <a:p>
              <a:pPr>
                <a:spcBef>
                  <a:spcPts val="600"/>
                </a:spcBef>
                <a:defRPr b="1" sz="2000">
                  <a:solidFill>
                    <a:srgbClr val="14A38B"/>
                  </a:solidFill>
                  <a:latin typeface="Calibri"/>
                  <a:ea typeface="Calibri"/>
                  <a:cs typeface="Calibri"/>
                  <a:sym typeface="Calibri"/>
                </a:defRPr>
              </a:pPr>
              <a:r>
                <a:t>Shipped</a:t>
              </a:r>
              <a:endParaRPr>
                <a:solidFill>
                  <a:srgbClr val="FFFFFF"/>
                </a:solidFill>
              </a:endParaRPr>
            </a:p>
            <a:p>
              <a:pPr>
                <a:defRPr sz="1500">
                  <a:solidFill>
                    <a:srgbClr val="1E1433"/>
                  </a:solidFill>
                  <a:latin typeface="Calibri"/>
                  <a:ea typeface="Calibri"/>
                  <a:cs typeface="Calibri"/>
                  <a:sym typeface="Calibri"/>
                </a:defRPr>
              </a:pPr>
              <a:r>
                <a:t>Controller, 12 tools, kitchen extension, reproducible Kaggle run</a:t>
              </a:r>
            </a:p>
          </p:txBody>
        </p:sp>
      </p:grpSp>
      <p:grpSp>
        <p:nvGrpSpPr>
          <p:cNvPr id="382" name="Oval 147"/>
          <p:cNvGrpSpPr/>
          <p:nvPr/>
        </p:nvGrpSpPr>
        <p:grpSpPr>
          <a:xfrm>
            <a:off x="4251959" y="1691639"/>
            <a:ext cx="914401" cy="914401"/>
            <a:chOff x="0" y="0"/>
            <a:chExt cx="914400" cy="914400"/>
          </a:xfrm>
        </p:grpSpPr>
        <p:sp>
          <p:nvSpPr>
            <p:cNvPr id="380" name="Circle"/>
            <p:cNvSpPr/>
            <p:nvPr/>
          </p:nvSpPr>
          <p:spPr>
            <a:xfrm>
              <a:off x="0" y="0"/>
              <a:ext cx="914400" cy="914400"/>
            </a:xfrm>
            <a:prstGeom prst="ellipse">
              <a:avLst/>
            </a:prstGeom>
            <a:solidFill>
              <a:srgbClr val="704EA6"/>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381" name="Next"/>
            <p:cNvSpPr txBox="1"/>
            <p:nvPr/>
          </p:nvSpPr>
          <p:spPr>
            <a:xfrm>
              <a:off x="133910" y="363921"/>
              <a:ext cx="646580" cy="18655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solidFill>
                    <a:srgbClr val="FFFFFF"/>
                  </a:solidFill>
                  <a:latin typeface="Calibri"/>
                  <a:ea typeface="Calibri"/>
                  <a:cs typeface="Calibri"/>
                  <a:sym typeface="Calibri"/>
                </a:defRPr>
              </a:lvl1pPr>
            </a:lstStyle>
            <a:p>
              <a:pPr/>
              <a:r>
                <a:t>Next</a:t>
              </a:r>
            </a:p>
          </p:txBody>
        </p:sp>
      </p:grpSp>
      <p:grpSp>
        <p:nvGrpSpPr>
          <p:cNvPr id="385" name="Rounded Rectangle 148"/>
          <p:cNvGrpSpPr/>
          <p:nvPr/>
        </p:nvGrpSpPr>
        <p:grpSpPr>
          <a:xfrm>
            <a:off x="3429000" y="2880360"/>
            <a:ext cx="2560321" cy="2103121"/>
            <a:chOff x="0" y="0"/>
            <a:chExt cx="2560320" cy="2103120"/>
          </a:xfrm>
        </p:grpSpPr>
        <p:sp>
          <p:nvSpPr>
            <p:cNvPr id="383" name="Rounded Rectangle"/>
            <p:cNvSpPr/>
            <p:nvPr/>
          </p:nvSpPr>
          <p:spPr>
            <a:xfrm>
              <a:off x="0" y="0"/>
              <a:ext cx="2560321" cy="2103121"/>
            </a:xfrm>
            <a:prstGeom prst="roundRect">
              <a:avLst>
                <a:gd name="adj" fmla="val 8000"/>
              </a:avLst>
            </a:prstGeom>
            <a:solidFill>
              <a:srgbClr val="EFE9F8"/>
            </a:solidFill>
            <a:ln w="12700" cap="flat">
              <a:noFill/>
              <a:miter lim="400000"/>
            </a:ln>
            <a:effectLst/>
          </p:spPr>
          <p:txBody>
            <a:bodyPr wrap="square" lIns="0" tIns="0" rIns="0" bIns="0" numCol="1" anchor="t">
              <a:noAutofit/>
            </a:bodyPr>
            <a:lstStyle/>
            <a:p>
              <a:pPr>
                <a:defRPr>
                  <a:solidFill>
                    <a:srgbClr val="FFFFFF"/>
                  </a:solidFill>
                </a:defRPr>
              </a:pPr>
            </a:p>
          </p:txBody>
        </p:sp>
        <p:sp>
          <p:nvSpPr>
            <p:cNvPr id="384" name="Real tools…"/>
            <p:cNvSpPr txBox="1"/>
            <p:nvPr/>
          </p:nvSpPr>
          <p:spPr>
            <a:xfrm>
              <a:off x="113287" y="49279"/>
              <a:ext cx="2333746" cy="9424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t">
              <a:spAutoFit/>
            </a:bodyPr>
            <a:lstStyle/>
            <a:p>
              <a:pPr>
                <a:spcBef>
                  <a:spcPts val="600"/>
                </a:spcBef>
                <a:defRPr b="1" sz="2000">
                  <a:solidFill>
                    <a:srgbClr val="704EA6"/>
                  </a:solidFill>
                  <a:latin typeface="Calibri"/>
                  <a:ea typeface="Calibri"/>
                  <a:cs typeface="Calibri"/>
                  <a:sym typeface="Calibri"/>
                </a:defRPr>
              </a:pPr>
              <a:r>
                <a:t>Real tools</a:t>
              </a:r>
              <a:endParaRPr>
                <a:solidFill>
                  <a:srgbClr val="FFFFFF"/>
                </a:solidFill>
              </a:endParaRPr>
            </a:p>
            <a:p>
              <a:pPr>
                <a:defRPr sz="1500">
                  <a:solidFill>
                    <a:srgbClr val="1E1433"/>
                  </a:solidFill>
                  <a:latin typeface="Calibri"/>
                  <a:ea typeface="Calibri"/>
                  <a:cs typeface="Calibri"/>
                  <a:sym typeface="Calibri"/>
                </a:defRPr>
              </a:pPr>
              <a:r>
                <a:t>Undo and compensation for writes that already fired</a:t>
              </a:r>
            </a:p>
          </p:txBody>
        </p:sp>
      </p:grpSp>
      <p:grpSp>
        <p:nvGrpSpPr>
          <p:cNvPr id="388" name="Oval 149"/>
          <p:cNvGrpSpPr/>
          <p:nvPr/>
        </p:nvGrpSpPr>
        <p:grpSpPr>
          <a:xfrm>
            <a:off x="7040880" y="1691639"/>
            <a:ext cx="914401" cy="914401"/>
            <a:chOff x="0" y="0"/>
            <a:chExt cx="914400" cy="914400"/>
          </a:xfrm>
        </p:grpSpPr>
        <p:sp>
          <p:nvSpPr>
            <p:cNvPr id="386" name="Circle"/>
            <p:cNvSpPr/>
            <p:nvPr/>
          </p:nvSpPr>
          <p:spPr>
            <a:xfrm>
              <a:off x="0" y="0"/>
              <a:ext cx="914400" cy="914400"/>
            </a:xfrm>
            <a:prstGeom prst="ellipse">
              <a:avLst/>
            </a:prstGeom>
            <a:solidFill>
              <a:srgbClr val="704EA6"/>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387" name="Then"/>
            <p:cNvSpPr txBox="1"/>
            <p:nvPr/>
          </p:nvSpPr>
          <p:spPr>
            <a:xfrm>
              <a:off x="133910" y="363921"/>
              <a:ext cx="646580" cy="18655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solidFill>
                    <a:srgbClr val="FFFFFF"/>
                  </a:solidFill>
                  <a:latin typeface="Calibri"/>
                  <a:ea typeface="Calibri"/>
                  <a:cs typeface="Calibri"/>
                  <a:sym typeface="Calibri"/>
                </a:defRPr>
              </a:lvl1pPr>
            </a:lstStyle>
            <a:p>
              <a:pPr/>
              <a:r>
                <a:t>Then</a:t>
              </a:r>
            </a:p>
          </p:txBody>
        </p:sp>
      </p:grpSp>
      <p:grpSp>
        <p:nvGrpSpPr>
          <p:cNvPr id="391" name="Rounded Rectangle 150"/>
          <p:cNvGrpSpPr/>
          <p:nvPr/>
        </p:nvGrpSpPr>
        <p:grpSpPr>
          <a:xfrm>
            <a:off x="6217920" y="2880360"/>
            <a:ext cx="2560321" cy="2103121"/>
            <a:chOff x="0" y="0"/>
            <a:chExt cx="2560320" cy="2103120"/>
          </a:xfrm>
        </p:grpSpPr>
        <p:sp>
          <p:nvSpPr>
            <p:cNvPr id="389" name="Rounded Rectangle"/>
            <p:cNvSpPr/>
            <p:nvPr/>
          </p:nvSpPr>
          <p:spPr>
            <a:xfrm>
              <a:off x="0" y="0"/>
              <a:ext cx="2560321" cy="2103121"/>
            </a:xfrm>
            <a:prstGeom prst="roundRect">
              <a:avLst>
                <a:gd name="adj" fmla="val 8000"/>
              </a:avLst>
            </a:prstGeom>
            <a:solidFill>
              <a:srgbClr val="EFE9F8"/>
            </a:solidFill>
            <a:ln w="12700" cap="flat">
              <a:noFill/>
              <a:miter lim="400000"/>
            </a:ln>
            <a:effectLst/>
          </p:spPr>
          <p:txBody>
            <a:bodyPr wrap="square" lIns="0" tIns="0" rIns="0" bIns="0" numCol="1" anchor="t">
              <a:noAutofit/>
            </a:bodyPr>
            <a:lstStyle/>
            <a:p>
              <a:pPr>
                <a:defRPr>
                  <a:solidFill>
                    <a:srgbClr val="FFFFFF"/>
                  </a:solidFill>
                </a:defRPr>
              </a:pPr>
            </a:p>
          </p:txBody>
        </p:sp>
        <p:sp>
          <p:nvSpPr>
            <p:cNvPr id="390" name="Any model…"/>
            <p:cNvSpPr txBox="1"/>
            <p:nvPr/>
          </p:nvSpPr>
          <p:spPr>
            <a:xfrm>
              <a:off x="113287" y="49279"/>
              <a:ext cx="2333746" cy="9424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t">
              <a:spAutoFit/>
            </a:bodyPr>
            <a:lstStyle/>
            <a:p>
              <a:pPr>
                <a:spcBef>
                  <a:spcPts val="600"/>
                </a:spcBef>
                <a:defRPr b="1" sz="2000">
                  <a:solidFill>
                    <a:srgbClr val="704EA6"/>
                  </a:solidFill>
                  <a:latin typeface="Calibri"/>
                  <a:ea typeface="Calibri"/>
                  <a:cs typeface="Calibri"/>
                  <a:sym typeface="Calibri"/>
                </a:defRPr>
              </a:pPr>
              <a:r>
                <a:t>Any model</a:t>
              </a:r>
              <a:endParaRPr>
                <a:solidFill>
                  <a:srgbClr val="FFFFFF"/>
                </a:solidFill>
              </a:endParaRPr>
            </a:p>
            <a:p>
              <a:pPr>
                <a:defRPr sz="1500">
                  <a:solidFill>
                    <a:srgbClr val="1E1433"/>
                  </a:solidFill>
                  <a:latin typeface="Calibri"/>
                  <a:ea typeface="Calibri"/>
                  <a:cs typeface="Calibri"/>
                  <a:sym typeface="Calibri"/>
                </a:defRPr>
              </a:pPr>
              <a:r>
                <a:t>Adapters for other realtime voice models</a:t>
              </a:r>
            </a:p>
          </p:txBody>
        </p:sp>
      </p:grpSp>
      <p:grpSp>
        <p:nvGrpSpPr>
          <p:cNvPr id="394" name="Oval 151"/>
          <p:cNvGrpSpPr/>
          <p:nvPr/>
        </p:nvGrpSpPr>
        <p:grpSpPr>
          <a:xfrm>
            <a:off x="9829799" y="1691639"/>
            <a:ext cx="914401" cy="914401"/>
            <a:chOff x="0" y="0"/>
            <a:chExt cx="914400" cy="914400"/>
          </a:xfrm>
        </p:grpSpPr>
        <p:sp>
          <p:nvSpPr>
            <p:cNvPr id="392" name="Circle"/>
            <p:cNvSpPr/>
            <p:nvPr/>
          </p:nvSpPr>
          <p:spPr>
            <a:xfrm>
              <a:off x="0" y="0"/>
              <a:ext cx="914400" cy="914400"/>
            </a:xfrm>
            <a:prstGeom prst="ellipse">
              <a:avLst/>
            </a:prstGeom>
            <a:solidFill>
              <a:srgbClr val="704EA6"/>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393" name="Later"/>
            <p:cNvSpPr txBox="1"/>
            <p:nvPr/>
          </p:nvSpPr>
          <p:spPr>
            <a:xfrm>
              <a:off x="133910" y="363921"/>
              <a:ext cx="646580" cy="18655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500">
                  <a:solidFill>
                    <a:srgbClr val="FFFFFF"/>
                  </a:solidFill>
                  <a:latin typeface="Calibri"/>
                  <a:ea typeface="Calibri"/>
                  <a:cs typeface="Calibri"/>
                  <a:sym typeface="Calibri"/>
                </a:defRPr>
              </a:lvl1pPr>
            </a:lstStyle>
            <a:p>
              <a:pPr/>
              <a:r>
                <a:t>Later</a:t>
              </a:r>
            </a:p>
          </p:txBody>
        </p:sp>
      </p:grpSp>
      <p:grpSp>
        <p:nvGrpSpPr>
          <p:cNvPr id="397" name="Rounded Rectangle 152"/>
          <p:cNvGrpSpPr/>
          <p:nvPr/>
        </p:nvGrpSpPr>
        <p:grpSpPr>
          <a:xfrm>
            <a:off x="9006839" y="2880360"/>
            <a:ext cx="2560321" cy="2103121"/>
            <a:chOff x="0" y="0"/>
            <a:chExt cx="2560320" cy="2103120"/>
          </a:xfrm>
        </p:grpSpPr>
        <p:sp>
          <p:nvSpPr>
            <p:cNvPr id="395" name="Rounded Rectangle"/>
            <p:cNvSpPr/>
            <p:nvPr/>
          </p:nvSpPr>
          <p:spPr>
            <a:xfrm>
              <a:off x="0" y="0"/>
              <a:ext cx="2560321" cy="2103121"/>
            </a:xfrm>
            <a:prstGeom prst="roundRect">
              <a:avLst>
                <a:gd name="adj" fmla="val 8000"/>
              </a:avLst>
            </a:prstGeom>
            <a:solidFill>
              <a:srgbClr val="EFE9F8"/>
            </a:solidFill>
            <a:ln w="12700" cap="flat">
              <a:noFill/>
              <a:miter lim="400000"/>
            </a:ln>
            <a:effectLst/>
          </p:spPr>
          <p:txBody>
            <a:bodyPr wrap="square" lIns="0" tIns="0" rIns="0" bIns="0" numCol="1" anchor="t">
              <a:noAutofit/>
            </a:bodyPr>
            <a:lstStyle/>
            <a:p>
              <a:pPr>
                <a:defRPr>
                  <a:solidFill>
                    <a:srgbClr val="FFFFFF"/>
                  </a:solidFill>
                </a:defRPr>
              </a:pPr>
            </a:p>
          </p:txBody>
        </p:sp>
        <p:sp>
          <p:nvSpPr>
            <p:cNvPr id="396" name="New domains…"/>
            <p:cNvSpPr txBox="1"/>
            <p:nvPr/>
          </p:nvSpPr>
          <p:spPr>
            <a:xfrm>
              <a:off x="113287" y="49279"/>
              <a:ext cx="2333746" cy="9424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t">
              <a:spAutoFit/>
            </a:bodyPr>
            <a:lstStyle/>
            <a:p>
              <a:pPr>
                <a:spcBef>
                  <a:spcPts val="600"/>
                </a:spcBef>
                <a:defRPr b="1" sz="2000">
                  <a:solidFill>
                    <a:srgbClr val="704EA6"/>
                  </a:solidFill>
                  <a:latin typeface="Calibri"/>
                  <a:ea typeface="Calibri"/>
                  <a:cs typeface="Calibri"/>
                  <a:sym typeface="Calibri"/>
                </a:defRPr>
              </a:pPr>
              <a:r>
                <a:t>New domains</a:t>
              </a:r>
              <a:endParaRPr>
                <a:solidFill>
                  <a:srgbClr val="FFFFFF"/>
                </a:solidFill>
              </a:endParaRPr>
            </a:p>
            <a:p>
              <a:pPr>
                <a:defRPr sz="1500">
                  <a:solidFill>
                    <a:srgbClr val="1E1433"/>
                  </a:solidFill>
                  <a:latin typeface="Calibri"/>
                  <a:ea typeface="Calibri"/>
                  <a:cs typeface="Calibri"/>
                  <a:sym typeface="Calibri"/>
                </a:defRPr>
              </a:pPr>
              <a:r>
                <a:t>Smart home, scheduling, support desks</a:t>
              </a:r>
            </a:p>
          </p:txBody>
        </p:sp>
      </p:gr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1" name="Google Shape;149;p10"/>
          <p:cNvSpPr txBox="1"/>
          <p:nvPr>
            <p:ph type="title"/>
          </p:nvPr>
        </p:nvSpPr>
        <p:spPr>
          <a:xfrm>
            <a:off x="640080" y="566927"/>
            <a:ext cx="10881360" cy="777241"/>
          </a:xfrm>
          <a:prstGeom prst="rect">
            <a:avLst/>
          </a:prstGeom>
        </p:spPr>
        <p:txBody>
          <a:bodyPr/>
          <a:lstStyle>
            <a:lvl1pPr>
              <a:defRPr b="1" sz="3200">
                <a:solidFill>
                  <a:srgbClr val="704EA6"/>
                </a:solidFill>
              </a:defRPr>
            </a:lvl1pPr>
          </a:lstStyle>
          <a:p>
            <a:pPr/>
            <a:r>
              <a:t>We made execution safer, not the model smarter</a:t>
            </a:r>
          </a:p>
        </p:txBody>
      </p:sp>
      <p:sp>
        <p:nvSpPr>
          <p:cNvPr id="402" name="TextBox 149"/>
          <p:cNvSpPr txBox="1"/>
          <p:nvPr/>
        </p:nvSpPr>
        <p:spPr>
          <a:xfrm>
            <a:off x="658368" y="320040"/>
            <a:ext cx="7278625" cy="189132"/>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b="1" sz="1100">
                <a:solidFill>
                  <a:srgbClr val="14A38B"/>
                </a:solidFill>
                <a:latin typeface="Calibri"/>
                <a:ea typeface="Calibri"/>
                <a:cs typeface="Calibri"/>
                <a:sym typeface="Calibri"/>
              </a:defRPr>
            </a:lvl1pPr>
          </a:lstStyle>
          <a:p>
            <a:pPr/>
            <a:r>
              <a:t>DIFFERENTIATION</a:t>
            </a:r>
          </a:p>
        </p:txBody>
      </p:sp>
      <p:sp>
        <p:nvSpPr>
          <p:cNvPr id="403" name="Rounded Rectangle 150"/>
          <p:cNvSpPr/>
          <p:nvPr/>
        </p:nvSpPr>
        <p:spPr>
          <a:xfrm>
            <a:off x="640080" y="1691639"/>
            <a:ext cx="2057401" cy="3246122"/>
          </a:xfrm>
          <a:prstGeom prst="roundRect">
            <a:avLst>
              <a:gd name="adj" fmla="val 8000"/>
            </a:avLst>
          </a:prstGeom>
          <a:solidFill>
            <a:srgbClr val="EFE9F8"/>
          </a:solidFill>
          <a:ln w="12700">
            <a:miter lim="400000"/>
          </a:ln>
        </p:spPr>
        <p:txBody>
          <a:bodyPr lIns="0" tIns="0" rIns="0" bIns="0" anchor="ctr"/>
          <a:lstStyle/>
          <a:p>
            <a:pPr algn="ctr">
              <a:defRPr>
                <a:solidFill>
                  <a:srgbClr val="FFFFFF"/>
                </a:solidFill>
              </a:defRPr>
            </a:pPr>
          </a:p>
        </p:txBody>
      </p:sp>
      <p:sp>
        <p:nvSpPr>
          <p:cNvPr id="404" name="TextBox 151"/>
          <p:cNvSpPr txBox="1"/>
          <p:nvPr/>
        </p:nvSpPr>
        <p:spPr>
          <a:xfrm>
            <a:off x="658368" y="1874518"/>
            <a:ext cx="2020825" cy="617337"/>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lgn="ctr">
              <a:defRPr b="1" sz="4400">
                <a:solidFill>
                  <a:srgbClr val="704EA6"/>
                </a:solidFill>
                <a:latin typeface="Calibri"/>
                <a:ea typeface="Calibri"/>
                <a:cs typeface="Calibri"/>
                <a:sym typeface="Calibri"/>
              </a:defRPr>
            </a:lvl1pPr>
          </a:lstStyle>
          <a:p>
            <a:pPr/>
            <a:r>
              <a:t>0</a:t>
            </a:r>
          </a:p>
        </p:txBody>
      </p:sp>
      <p:sp>
        <p:nvSpPr>
          <p:cNvPr id="405" name="TextBox 152"/>
          <p:cNvSpPr txBox="1"/>
          <p:nvPr/>
        </p:nvSpPr>
        <p:spPr>
          <a:xfrm>
            <a:off x="658368" y="2880360"/>
            <a:ext cx="2020825" cy="264018"/>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lgn="ctr">
              <a:defRPr b="1" sz="1600">
                <a:solidFill>
                  <a:srgbClr val="1E1433"/>
                </a:solidFill>
                <a:latin typeface="Calibri"/>
                <a:ea typeface="Calibri"/>
                <a:cs typeface="Calibri"/>
                <a:sym typeface="Calibri"/>
              </a:defRPr>
            </a:lvl1pPr>
          </a:lstStyle>
          <a:p>
            <a:pPr/>
            <a:r>
              <a:t>answer leakage</a:t>
            </a:r>
          </a:p>
        </p:txBody>
      </p:sp>
      <p:sp>
        <p:nvSpPr>
          <p:cNvPr id="406" name="TextBox 153"/>
          <p:cNvSpPr txBox="1"/>
          <p:nvPr/>
        </p:nvSpPr>
        <p:spPr>
          <a:xfrm>
            <a:off x="795528" y="3383279"/>
            <a:ext cx="1746503" cy="424827"/>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lgn="ctr">
              <a:defRPr sz="1300">
                <a:solidFill>
                  <a:srgbClr val="5F5A6B"/>
                </a:solidFill>
                <a:latin typeface="Calibri"/>
                <a:ea typeface="Calibri"/>
                <a:cs typeface="Calibri"/>
                <a:sym typeface="Calibri"/>
              </a:defRPr>
            </a:lvl1pPr>
          </a:lstStyle>
          <a:p>
            <a:pPr/>
            <a:r>
              <a:t>src/ holds contracts only, no scenario data</a:t>
            </a:r>
          </a:p>
        </p:txBody>
      </p:sp>
      <p:sp>
        <p:nvSpPr>
          <p:cNvPr id="407" name="Rounded Rectangle 154"/>
          <p:cNvSpPr/>
          <p:nvPr/>
        </p:nvSpPr>
        <p:spPr>
          <a:xfrm>
            <a:off x="2852927" y="1691639"/>
            <a:ext cx="2057401" cy="3246122"/>
          </a:xfrm>
          <a:prstGeom prst="roundRect">
            <a:avLst>
              <a:gd name="adj" fmla="val 8000"/>
            </a:avLst>
          </a:prstGeom>
          <a:solidFill>
            <a:srgbClr val="EFE9F8"/>
          </a:solidFill>
          <a:ln w="12700">
            <a:miter lim="400000"/>
          </a:ln>
        </p:spPr>
        <p:txBody>
          <a:bodyPr lIns="0" tIns="0" rIns="0" bIns="0" anchor="ctr"/>
          <a:lstStyle/>
          <a:p>
            <a:pPr algn="ctr">
              <a:defRPr>
                <a:solidFill>
                  <a:srgbClr val="FFFFFF"/>
                </a:solidFill>
              </a:defRPr>
            </a:pPr>
          </a:p>
        </p:txBody>
      </p:sp>
      <p:sp>
        <p:nvSpPr>
          <p:cNvPr id="408" name="TextBox 155"/>
          <p:cNvSpPr txBox="1"/>
          <p:nvPr/>
        </p:nvSpPr>
        <p:spPr>
          <a:xfrm>
            <a:off x="2871215" y="1874518"/>
            <a:ext cx="2020825" cy="617337"/>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lgn="ctr">
              <a:defRPr b="1" sz="4400">
                <a:solidFill>
                  <a:srgbClr val="704EA6"/>
                </a:solidFill>
                <a:latin typeface="Calibri"/>
                <a:ea typeface="Calibri"/>
                <a:cs typeface="Calibri"/>
                <a:sym typeface="Calibri"/>
              </a:defRPr>
            </a:lvl1pPr>
          </a:lstStyle>
          <a:p>
            <a:pPr/>
            <a:r>
              <a:t>203</a:t>
            </a:r>
          </a:p>
        </p:txBody>
      </p:sp>
      <p:sp>
        <p:nvSpPr>
          <p:cNvPr id="409" name="TextBox 156"/>
          <p:cNvSpPr txBox="1"/>
          <p:nvPr/>
        </p:nvSpPr>
        <p:spPr>
          <a:xfrm>
            <a:off x="2871215" y="2880360"/>
            <a:ext cx="2020825" cy="264018"/>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lgn="ctr">
              <a:defRPr b="1" sz="1600">
                <a:solidFill>
                  <a:srgbClr val="1E1433"/>
                </a:solidFill>
                <a:latin typeface="Calibri"/>
                <a:ea typeface="Calibri"/>
                <a:cs typeface="Calibri"/>
                <a:sym typeface="Calibri"/>
              </a:defRPr>
            </a:lvl1pPr>
          </a:lstStyle>
          <a:p>
            <a:pPr/>
            <a:r>
              <a:t>tests, offline</a:t>
            </a:r>
          </a:p>
        </p:txBody>
      </p:sp>
      <p:sp>
        <p:nvSpPr>
          <p:cNvPr id="410" name="TextBox 157"/>
          <p:cNvSpPr txBox="1"/>
          <p:nvPr/>
        </p:nvSpPr>
        <p:spPr>
          <a:xfrm>
            <a:off x="3008376" y="3383279"/>
            <a:ext cx="1746504" cy="424827"/>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lgn="ctr">
              <a:defRPr sz="1300">
                <a:solidFill>
                  <a:srgbClr val="5F5A6B"/>
                </a:solidFill>
                <a:latin typeface="Calibri"/>
                <a:ea typeface="Calibri"/>
                <a:cs typeface="Calibri"/>
                <a:sym typeface="Calibri"/>
              </a:defRPr>
            </a:lvl1pPr>
          </a:lstStyle>
          <a:p>
            <a:pPr/>
            <a:r>
              <a:t>no credentials or network needed</a:t>
            </a:r>
          </a:p>
        </p:txBody>
      </p:sp>
      <p:sp>
        <p:nvSpPr>
          <p:cNvPr id="411" name="Rounded Rectangle 158"/>
          <p:cNvSpPr/>
          <p:nvPr/>
        </p:nvSpPr>
        <p:spPr>
          <a:xfrm>
            <a:off x="5065776" y="1691639"/>
            <a:ext cx="2057401" cy="3246122"/>
          </a:xfrm>
          <a:prstGeom prst="roundRect">
            <a:avLst>
              <a:gd name="adj" fmla="val 8000"/>
            </a:avLst>
          </a:prstGeom>
          <a:solidFill>
            <a:srgbClr val="EFE9F8"/>
          </a:solidFill>
          <a:ln w="12700">
            <a:miter lim="400000"/>
          </a:ln>
        </p:spPr>
        <p:txBody>
          <a:bodyPr lIns="0" tIns="0" rIns="0" bIns="0" anchor="ctr"/>
          <a:lstStyle/>
          <a:p>
            <a:pPr algn="ctr">
              <a:defRPr>
                <a:solidFill>
                  <a:srgbClr val="FFFFFF"/>
                </a:solidFill>
              </a:defRPr>
            </a:pPr>
          </a:p>
        </p:txBody>
      </p:sp>
      <p:sp>
        <p:nvSpPr>
          <p:cNvPr id="412" name="TextBox 159"/>
          <p:cNvSpPr txBox="1"/>
          <p:nvPr/>
        </p:nvSpPr>
        <p:spPr>
          <a:xfrm>
            <a:off x="5084064" y="1874518"/>
            <a:ext cx="2020825" cy="617337"/>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lgn="ctr">
              <a:defRPr b="1" sz="4400">
                <a:solidFill>
                  <a:srgbClr val="704EA6"/>
                </a:solidFill>
                <a:latin typeface="Calibri"/>
                <a:ea typeface="Calibri"/>
                <a:cs typeface="Calibri"/>
                <a:sym typeface="Calibri"/>
              </a:defRPr>
            </a:lvl1pPr>
          </a:lstStyle>
          <a:p>
            <a:pPr/>
            <a:r>
              <a:t>1</a:t>
            </a:r>
          </a:p>
        </p:txBody>
      </p:sp>
      <p:sp>
        <p:nvSpPr>
          <p:cNvPr id="413" name="TextBox 160"/>
          <p:cNvSpPr txBox="1"/>
          <p:nvPr/>
        </p:nvSpPr>
        <p:spPr>
          <a:xfrm>
            <a:off x="5084064" y="2880360"/>
            <a:ext cx="2020825" cy="264018"/>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lgn="ctr">
              <a:defRPr b="1" sz="1600">
                <a:solidFill>
                  <a:srgbClr val="1E1433"/>
                </a:solidFill>
                <a:latin typeface="Calibri"/>
                <a:ea typeface="Calibri"/>
                <a:cs typeface="Calibri"/>
                <a:sym typeface="Calibri"/>
              </a:defRPr>
            </a:lvl1pPr>
          </a:lstStyle>
          <a:p>
            <a:pPr/>
            <a:r>
              <a:t>command</a:t>
            </a:r>
          </a:p>
        </p:txBody>
      </p:sp>
      <p:sp>
        <p:nvSpPr>
          <p:cNvPr id="414" name="TextBox 161"/>
          <p:cNvSpPr txBox="1"/>
          <p:nvPr/>
        </p:nvSpPr>
        <p:spPr>
          <a:xfrm>
            <a:off x="5221223" y="3383279"/>
            <a:ext cx="1746504" cy="424827"/>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lgn="ctr">
              <a:defRPr sz="1300">
                <a:solidFill>
                  <a:srgbClr val="5F5A6B"/>
                </a:solidFill>
                <a:latin typeface="Calibri"/>
                <a:ea typeface="Calibri"/>
                <a:cs typeface="Calibri"/>
                <a:sym typeface="Calibri"/>
              </a:defRPr>
            </a:lvl1pPr>
          </a:lstStyle>
          <a:p>
            <a:pPr/>
            <a:r>
              <a:t>bash scripts/reproduce.sh</a:t>
            </a:r>
          </a:p>
        </p:txBody>
      </p:sp>
      <p:sp>
        <p:nvSpPr>
          <p:cNvPr id="415" name="Rounded Rectangle 162"/>
          <p:cNvSpPr/>
          <p:nvPr/>
        </p:nvSpPr>
        <p:spPr>
          <a:xfrm>
            <a:off x="7278623" y="1691639"/>
            <a:ext cx="2057401" cy="3246122"/>
          </a:xfrm>
          <a:prstGeom prst="roundRect">
            <a:avLst>
              <a:gd name="adj" fmla="val 8000"/>
            </a:avLst>
          </a:prstGeom>
          <a:solidFill>
            <a:srgbClr val="EFE9F8"/>
          </a:solidFill>
          <a:ln w="12700">
            <a:miter lim="400000"/>
          </a:ln>
        </p:spPr>
        <p:txBody>
          <a:bodyPr lIns="0" tIns="0" rIns="0" bIns="0" anchor="ctr"/>
          <a:lstStyle/>
          <a:p>
            <a:pPr algn="ctr">
              <a:defRPr>
                <a:solidFill>
                  <a:srgbClr val="FFFFFF"/>
                </a:solidFill>
              </a:defRPr>
            </a:pPr>
          </a:p>
        </p:txBody>
      </p:sp>
      <p:sp>
        <p:nvSpPr>
          <p:cNvPr id="416" name="TextBox 163"/>
          <p:cNvSpPr txBox="1"/>
          <p:nvPr/>
        </p:nvSpPr>
        <p:spPr>
          <a:xfrm>
            <a:off x="7296911" y="1874518"/>
            <a:ext cx="2020825" cy="617337"/>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lgn="ctr">
              <a:defRPr b="1" sz="4400">
                <a:solidFill>
                  <a:srgbClr val="704EA6"/>
                </a:solidFill>
                <a:latin typeface="Calibri"/>
                <a:ea typeface="Calibri"/>
                <a:cs typeface="Calibri"/>
                <a:sym typeface="Calibri"/>
              </a:defRPr>
            </a:lvl1pPr>
          </a:lstStyle>
          <a:p>
            <a:pPr/>
            <a:r>
              <a:t>12+1</a:t>
            </a:r>
          </a:p>
        </p:txBody>
      </p:sp>
      <p:sp>
        <p:nvSpPr>
          <p:cNvPr id="417" name="TextBox 164"/>
          <p:cNvSpPr txBox="1"/>
          <p:nvPr/>
        </p:nvSpPr>
        <p:spPr>
          <a:xfrm>
            <a:off x="7296911" y="2880360"/>
            <a:ext cx="2020825" cy="264018"/>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lgn="ctr">
              <a:defRPr b="1" sz="1600">
                <a:solidFill>
                  <a:srgbClr val="1E1433"/>
                </a:solidFill>
                <a:latin typeface="Calibri"/>
                <a:ea typeface="Calibri"/>
                <a:cs typeface="Calibri"/>
                <a:sym typeface="Calibri"/>
              </a:defRPr>
            </a:lvl1pPr>
          </a:lstStyle>
          <a:p>
            <a:pPr/>
            <a:r>
              <a:t>tool domains</a:t>
            </a:r>
          </a:p>
        </p:txBody>
      </p:sp>
      <p:sp>
        <p:nvSpPr>
          <p:cNvPr id="418" name="TextBox 165"/>
          <p:cNvSpPr txBox="1"/>
          <p:nvPr/>
        </p:nvSpPr>
        <p:spPr>
          <a:xfrm>
            <a:off x="7434071" y="3383279"/>
            <a:ext cx="1746503" cy="424827"/>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lgn="ctr">
              <a:defRPr sz="1300">
                <a:solidFill>
                  <a:srgbClr val="5F5A6B"/>
                </a:solidFill>
                <a:latin typeface="Calibri"/>
                <a:ea typeface="Calibri"/>
                <a:cs typeface="Calibri"/>
                <a:sym typeface="Calibri"/>
              </a:defRPr>
            </a:lvl1pPr>
          </a:lstStyle>
          <a:p>
            <a:pPr/>
            <a:r>
              <a:t>FDB-v3 plus our kitchen timer</a:t>
            </a:r>
          </a:p>
        </p:txBody>
      </p:sp>
      <p:sp>
        <p:nvSpPr>
          <p:cNvPr id="419" name="Rounded Rectangle 166"/>
          <p:cNvSpPr/>
          <p:nvPr/>
        </p:nvSpPr>
        <p:spPr>
          <a:xfrm>
            <a:off x="9491471" y="1691639"/>
            <a:ext cx="2057401" cy="3246122"/>
          </a:xfrm>
          <a:prstGeom prst="roundRect">
            <a:avLst>
              <a:gd name="adj" fmla="val 8000"/>
            </a:avLst>
          </a:prstGeom>
          <a:solidFill>
            <a:srgbClr val="EFE9F8"/>
          </a:solidFill>
          <a:ln w="12700">
            <a:miter lim="400000"/>
          </a:ln>
        </p:spPr>
        <p:txBody>
          <a:bodyPr lIns="0" tIns="0" rIns="0" bIns="0" anchor="ctr"/>
          <a:lstStyle/>
          <a:p>
            <a:pPr algn="ctr">
              <a:defRPr>
                <a:solidFill>
                  <a:srgbClr val="FFFFFF"/>
                </a:solidFill>
              </a:defRPr>
            </a:pPr>
          </a:p>
        </p:txBody>
      </p:sp>
      <p:sp>
        <p:nvSpPr>
          <p:cNvPr id="420" name="TextBox 167"/>
          <p:cNvSpPr txBox="1"/>
          <p:nvPr/>
        </p:nvSpPr>
        <p:spPr>
          <a:xfrm>
            <a:off x="9509759" y="1874518"/>
            <a:ext cx="2020825" cy="617337"/>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lgn="ctr">
              <a:defRPr b="1" sz="4400">
                <a:solidFill>
                  <a:srgbClr val="704EA6"/>
                </a:solidFill>
                <a:latin typeface="Calibri"/>
                <a:ea typeface="Calibri"/>
                <a:cs typeface="Calibri"/>
                <a:sym typeface="Calibri"/>
              </a:defRPr>
            </a:lvl1pPr>
          </a:lstStyle>
          <a:p>
            <a:pPr/>
            <a:r>
              <a:t>SHA</a:t>
            </a:r>
          </a:p>
        </p:txBody>
      </p:sp>
      <p:sp>
        <p:nvSpPr>
          <p:cNvPr id="421" name="TextBox 168"/>
          <p:cNvSpPr txBox="1"/>
          <p:nvPr/>
        </p:nvSpPr>
        <p:spPr>
          <a:xfrm>
            <a:off x="9509759" y="2880360"/>
            <a:ext cx="2020825" cy="264018"/>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lgn="ctr">
              <a:defRPr b="1" sz="1600">
                <a:solidFill>
                  <a:srgbClr val="1E1433"/>
                </a:solidFill>
                <a:latin typeface="Calibri"/>
                <a:ea typeface="Calibri"/>
                <a:cs typeface="Calibri"/>
                <a:sym typeface="Calibri"/>
              </a:defRPr>
            </a:lvl1pPr>
          </a:lstStyle>
          <a:p>
            <a:pPr/>
            <a:r>
              <a:t>pinned bench</a:t>
            </a:r>
          </a:p>
        </p:txBody>
      </p:sp>
      <p:sp>
        <p:nvSpPr>
          <p:cNvPr id="422" name="TextBox 169"/>
          <p:cNvSpPr txBox="1"/>
          <p:nvPr/>
        </p:nvSpPr>
        <p:spPr>
          <a:xfrm>
            <a:off x="9646919" y="3383279"/>
            <a:ext cx="1746504" cy="424827"/>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lgn="ctr">
              <a:defRPr sz="1300">
                <a:solidFill>
                  <a:srgbClr val="5F5A6B"/>
                </a:solidFill>
                <a:latin typeface="Calibri"/>
                <a:ea typeface="Calibri"/>
                <a:cs typeface="Calibri"/>
                <a:sym typeface="Calibri"/>
              </a:defRPr>
            </a:lvl1pPr>
          </a:lstStyle>
          <a:p>
            <a:pPr/>
            <a:r>
              <a:t>upstream commit 3e799c45</a:t>
            </a:r>
          </a:p>
        </p:txBody>
      </p:sp>
      <p:grpSp>
        <p:nvGrpSpPr>
          <p:cNvPr id="425" name="Rounded Rectangle 170"/>
          <p:cNvGrpSpPr/>
          <p:nvPr/>
        </p:nvGrpSpPr>
        <p:grpSpPr>
          <a:xfrm>
            <a:off x="640080" y="5257800"/>
            <a:ext cx="10881360" cy="868681"/>
            <a:chOff x="0" y="0"/>
            <a:chExt cx="10881359" cy="868680"/>
          </a:xfrm>
        </p:grpSpPr>
        <p:sp>
          <p:nvSpPr>
            <p:cNvPr id="423" name="Rounded Rectangle"/>
            <p:cNvSpPr/>
            <p:nvPr/>
          </p:nvSpPr>
          <p:spPr>
            <a:xfrm>
              <a:off x="0" y="0"/>
              <a:ext cx="10881360" cy="868681"/>
            </a:xfrm>
            <a:prstGeom prst="roundRect">
              <a:avLst>
                <a:gd name="adj" fmla="val 8000"/>
              </a:avLst>
            </a:prstGeom>
            <a:solidFill>
              <a:srgbClr val="1E1433"/>
            </a:solidFill>
            <a:ln w="12700" cap="flat">
              <a:noFill/>
              <a:miter lim="400000"/>
            </a:ln>
            <a:effectLst/>
          </p:spPr>
          <p:txBody>
            <a:bodyPr wrap="square" lIns="0" tIns="0" rIns="0" bIns="0" numCol="1" anchor="ctr">
              <a:noAutofit/>
            </a:bodyPr>
            <a:lstStyle/>
            <a:p>
              <a:pPr algn="ctr">
                <a:defRPr>
                  <a:solidFill>
                    <a:srgbClr val="FFFFFF"/>
                  </a:solidFill>
                </a:defRPr>
              </a:pPr>
            </a:p>
          </p:txBody>
        </p:sp>
        <p:sp>
          <p:nvSpPr>
            <p:cNvPr id="424" name="Also: safety-override prompts for simulated passport and autopay tools, so the model stops refusing them."/>
            <p:cNvSpPr txBox="1"/>
            <p:nvPr/>
          </p:nvSpPr>
          <p:spPr>
            <a:xfrm>
              <a:off x="84361" y="256611"/>
              <a:ext cx="10712638" cy="35545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3152" tIns="73152" rIns="73152" bIns="73152" numCol="1" anchor="ctr">
              <a:spAutoFit/>
            </a:bodyPr>
            <a:lstStyle>
              <a:lvl1pPr algn="ctr">
                <a:defRPr b="1" sz="1600">
                  <a:solidFill>
                    <a:srgbClr val="FFFFFF"/>
                  </a:solidFill>
                  <a:latin typeface="Calibri"/>
                  <a:ea typeface="Calibri"/>
                  <a:cs typeface="Calibri"/>
                  <a:sym typeface="Calibri"/>
                </a:defRPr>
              </a:lvl1pPr>
            </a:lstStyle>
            <a:p>
              <a:pPr/>
              <a:r>
                <a:t>Also: safety-override prompts for simulated passport and autopay tools, so the model stops refusing them.</a:t>
              </a:r>
            </a:p>
          </p:txBody>
        </p:sp>
      </p:gr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9" name="Google Shape;155;p11"/>
          <p:cNvSpPr txBox="1"/>
          <p:nvPr>
            <p:ph type="title"/>
          </p:nvPr>
        </p:nvSpPr>
        <p:spPr>
          <a:xfrm>
            <a:off x="838200" y="365125"/>
            <a:ext cx="10515600" cy="1325563"/>
          </a:xfrm>
          <a:prstGeom prst="rect">
            <a:avLst/>
          </a:prstGeom>
        </p:spPr>
        <p:txBody>
          <a:bodyPr/>
          <a:lstStyle>
            <a:lvl1pPr>
              <a:defRPr b="1">
                <a:solidFill>
                  <a:srgbClr val="704EA6"/>
                </a:solidFill>
              </a:defRPr>
            </a:lvl1pPr>
          </a:lstStyle>
          <a:p>
            <a:pPr/>
            <a:r>
              <a:t>Checklist- Updated on Public GitHub</a:t>
            </a:r>
          </a:p>
        </p:txBody>
      </p:sp>
      <p:sp>
        <p:nvSpPr>
          <p:cNvPr id="430" name="Google Shape;156;p11"/>
          <p:cNvSpPr txBox="1"/>
          <p:nvPr>
            <p:ph type="body" idx="1"/>
          </p:nvPr>
        </p:nvSpPr>
        <p:spPr>
          <a:xfrm>
            <a:off x="838200" y="1825625"/>
            <a:ext cx="10515600" cy="4351338"/>
          </a:xfrm>
          <a:prstGeom prst="rect">
            <a:avLst/>
          </a:prstGeom>
        </p:spPr>
        <p:txBody>
          <a:bodyPr/>
          <a:lstStyle/>
          <a:p>
            <a:pPr marL="177800" indent="-177800">
              <a:spcBef>
                <a:spcPts val="0"/>
              </a:spcBef>
              <a:buClr>
                <a:srgbClr val="63637E"/>
              </a:buClr>
              <a:defRPr>
                <a:solidFill>
                  <a:srgbClr val="63637E"/>
                </a:solidFill>
              </a:defRPr>
            </a:pPr>
            <a:r>
              <a:t>Working prototype code: public GitHub repo (Y)  github.com/0xkhush/REACTOR</a:t>
            </a:r>
          </a:p>
          <a:p>
            <a:pPr marL="177800" indent="-177800">
              <a:spcBef>
                <a:spcPts val="1500"/>
              </a:spcBef>
              <a:buClr>
                <a:srgbClr val="63637E"/>
              </a:buClr>
              <a:defRPr>
                <a:solidFill>
                  <a:srgbClr val="63637E"/>
                </a:solidFill>
              </a:defRPr>
            </a:pPr>
            <a:r>
              <a:t>README with reproducible setup instructions (Y)</a:t>
            </a:r>
          </a:p>
          <a:p>
            <a:pPr marL="177800" indent="-177800">
              <a:spcBef>
                <a:spcPts val="1500"/>
              </a:spcBef>
              <a:buClr>
                <a:srgbClr val="63637E"/>
              </a:buClr>
              <a:defRPr>
                <a:solidFill>
                  <a:srgbClr val="63637E"/>
                </a:solidFill>
              </a:defRPr>
            </a:pPr>
            <a:r>
              <a:t>Demo video: [add YouTube or Drive link]</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2" name="Google Shape;162;p12"/>
          <p:cNvSpPr txBox="1"/>
          <p:nvPr/>
        </p:nvSpPr>
        <p:spPr>
          <a:xfrm>
            <a:off x="1046181" y="3831210"/>
            <a:ext cx="6766560" cy="66668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600">
                <a:solidFill>
                  <a:srgbClr val="14142B"/>
                </a:solidFill>
              </a:defRPr>
            </a:lvl1pPr>
          </a:lstStyle>
          <a:p>
            <a:pPr/>
            <a:r>
              <a:t>Thank you</a:t>
            </a:r>
          </a:p>
        </p:txBody>
      </p:sp>
      <p:sp>
        <p:nvSpPr>
          <p:cNvPr id="433" name="Google Shape;163;p12"/>
          <p:cNvSpPr txBox="1"/>
          <p:nvPr/>
        </p:nvSpPr>
        <p:spPr>
          <a:xfrm>
            <a:off x="777239" y="5977050"/>
            <a:ext cx="1060704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63637E"/>
                </a:solidFill>
                <a:latin typeface="Calibri"/>
                <a:ea typeface="Calibri"/>
                <a:cs typeface="Calibri"/>
                <a:sym typeface="Calibri"/>
              </a:defRPr>
            </a:lvl1pPr>
          </a:lstStyle>
          <a:p>
            <a:pPr/>
            <a:r>
              <a:t>Organised by the Language AI Team and the PRISM Team, Samsung R&amp;D Institute India</a:t>
            </a:r>
          </a:p>
        </p:txBody>
      </p:sp>
      <p:sp>
        <p:nvSpPr>
          <p:cNvPr id="434" name="TextBox 163"/>
          <p:cNvSpPr txBox="1"/>
          <p:nvPr/>
        </p:nvSpPr>
        <p:spPr>
          <a:xfrm>
            <a:off x="1060702" y="4617720"/>
            <a:ext cx="7278625" cy="296512"/>
          </a:xfrm>
          <a:prstGeom prst="rect">
            <a:avLst/>
          </a:prstGeom>
          <a:ln w="12700">
            <a:miter lim="400000"/>
          </a:ln>
          <a:extLst>
            <a:ext uri="{C572A759-6A51-4108-AA02-DFA0A04FC94B}">
              <ma14:wrappingTextBoxFlag xmlns:ma14="http://schemas.microsoft.com/office/mac/drawingml/2011/main" val="1"/>
            </a:ext>
          </a:extLst>
        </p:spPr>
        <p:txBody>
          <a:bodyPr lIns="27432" tIns="27432" rIns="27432" bIns="27432">
            <a:spAutoFit/>
          </a:bodyPr>
          <a:lstStyle>
            <a:lvl1pPr>
              <a:defRPr b="1" sz="1800">
                <a:solidFill>
                  <a:srgbClr val="704EA6"/>
                </a:solidFill>
                <a:latin typeface="Calibri"/>
                <a:ea typeface="Calibri"/>
                <a:cs typeface="Calibri"/>
                <a:sym typeface="Calibri"/>
              </a:defRPr>
            </a:lvl1pPr>
          </a:lstStyle>
          <a:p>
            <a:pPr/>
            <a:r>
              <a:t>github.com/0xkhush/REACTOR  ·  Team REACTOR</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